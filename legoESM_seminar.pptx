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1695" cy="6858000" type="screen16x9"/>
  <p:notesSz cx="6858000" cy="12191695"/>
  <p:defaultTextStyle>
    <a:defPPr>
      <a:defRPr lang="en-US"/>
    </a:defPPr>
  </p:defaultTextStyle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Relationship Id="rId3" Type="http://schemas.openxmlformats.org/officeDocument/2006/relationships/slide" Target="slides/slide2.xml"/>
<Relationship Id="rId4" Type="http://schemas.openxmlformats.org/officeDocument/2006/relationships/slide" Target="slides/slide3.xml"/>
<Relationship Id="rId5" Type="http://schemas.openxmlformats.org/officeDocument/2006/relationships/slide" Target="slides/slide4.xml"/>
<Relationship Id="rId6" Type="http://schemas.openxmlformats.org/officeDocument/2006/relationships/slide" Target="slides/slide5.xml"/>
<Relationship Id="rId7" Type="http://schemas.openxmlformats.org/officeDocument/2006/relationships/slide" Target="slides/slide6.xml"/>
<Relationship Id="rId8" Type="http://schemas.openxmlformats.org/officeDocument/2006/relationships/slide" Target="slides/slide7.xml"/>
<Relationship Id="rId9" Type="http://schemas.openxmlformats.org/officeDocument/2006/relationships/slide" Target="slides/slide8.xml"/>
<Relationship Id="rId10" Type="http://schemas.openxmlformats.org/officeDocument/2006/relationships/slide" Target="slides/slide9.xml"/>
<Relationship Id="rId11" Type="http://schemas.openxmlformats.org/officeDocument/2006/relationships/slide" Target="slides/slide10.xml"/>
<Relationship Id="rId12" Type="http://schemas.openxmlformats.org/officeDocument/2006/relationships/slide" Target="slides/slide11.xml"/>
<Relationship Id="rId13" Type="http://schemas.openxmlformats.org/officeDocument/2006/relationships/slide" Target="slides/slide12.xml"/>
<Relationship Id="rId14" Type="http://schemas.openxmlformats.org/officeDocument/2006/relationships/slide" Target="slides/slide13.xml"/>
<Relationship Id="rId15" Type="http://schemas.openxmlformats.org/officeDocument/2006/relationships/slide" Target="slides/slide14.xml"/>
<Relationship Id="rId16" Type="http://schemas.openxmlformats.org/officeDocument/2006/relationships/slide" Target="slides/slide15.xml"/>
<Relationship Id="rId17" Type="http://schemas.openxmlformats.org/officeDocument/2006/relationships/slide" Target="slides/slide16.xml"/>
<Relationship Id="rId18" Type="http://schemas.openxmlformats.org/officeDocument/2006/relationships/slide" Target="slides/slide17.xml"/>
<Relationship Id="rId19" Type="http://schemas.openxmlformats.org/officeDocument/2006/relationships/slide" Target="slides/slide18.xml"/>
<Relationship Id="rId20" Type="http://schemas.openxmlformats.org/officeDocument/2006/relationships/slide" Target="slides/slide19.xml"/>
<Relationship Id="rId21" Type="http://schemas.openxmlformats.org/officeDocument/2006/relationships/slide" Target="slides/slide20.xml"/>
<Relationship Id="rId22" Type="http://schemas.openxmlformats.org/officeDocument/2006/relationships/slide" Target="slides/slide21.xml"/>
<Relationship Id="rId23" Type="http://schemas.openxmlformats.org/officeDocument/2006/relationships/slide" Target="slides/slide22.xml"/>
<Relationship Id="rId24" Type="http://schemas.openxmlformats.org/officeDocument/2006/relationships/slide" Target="slides/slide23.xml"/>
<Relationship Id="rId25" Type="http://schemas.openxmlformats.org/officeDocument/2006/relationships/slide" Target="slides/slide24.xml"/>
<Relationship Id="rId26" Type="http://schemas.openxmlformats.org/officeDocument/2006/relationships/slide" Target="slides/slide25.xml"/>
<Relationship Id="rId27" Type="http://schemas.openxmlformats.org/officeDocument/2006/relationships/slide" Target="slides/slide26.xml"/>
<Relationship Id="rId28" Type="http://schemas.openxmlformats.org/officeDocument/2006/relationships/slide" Target="slides/slide27.xml"/>
<Relationship Id="rId29" Type="http://schemas.openxmlformats.org/officeDocument/2006/relationships/slide" Target="slides/slide28.xml"/>
<Relationship Id="rId30" Type="http://schemas.openxmlformats.org/officeDocument/2006/relationships/slide" Target="slides/slide29.xml"/>
<Relationship Id="rId31" Type="http://schemas.openxmlformats.org/officeDocument/2006/relationships/slide" Target="slides/slide30.xml"/>
<Relationship Id="rId32" Type="http://schemas.openxmlformats.org/officeDocument/2006/relationships/theme" Target="theme/theme1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rgbClr val="0F4C5C"/>
          </a:solidFill>
          <a:latin typeface="Georgia"/>
        </a:defRPr>
      </a:lvl1pPr>
    </p:titleStyle>
    <p:bodyStyle>
      <a:lvl1pPr>
        <a:defRPr sz="1400">
          <a:solidFill>
            <a:srgbClr val="1F2937"/>
          </a:solidFill>
          <a:latin typeface="Calibri"/>
        </a:defRPr>
      </a:lvl1pPr>
    </p:bodyStyle>
    <p:otherStyle>
      <a:lvl1pPr>
        <a:defRPr sz="1400">
          <a:solidFill>
            <a:srgbClr val="1F2937"/>
          </a:solidFill>
          <a:latin typeface="Calibri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9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10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1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1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1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1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1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1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1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1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19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20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2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2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2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2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2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2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100" Type="http://schemas.openxmlformats.org/officeDocument/2006/relationships/image" Target="../media/image_s26_rId100.png"/>
</Relationships>

</file>

<file path=ppt/slides/_rels/slide2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2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29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30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ect 3"/>
          <p:cNvSpPr/>
          <p:nvPr/>
        </p:nvSpPr>
        <p:spPr>
          <a:xfrm>
            <a:off x="0" y="5577840"/>
            <a:ext cx="12191695" cy="1280160"/>
          </a:xfrm>
          <a:prstGeom prst="rect">
            <a:avLst/>
          </a:prstGeom>
          <a:solidFill>
            <a:srgbClr val="0A3A4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Rect 4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36414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extBox 5"/>
          <p:cNvSpPr txBox="1"/>
          <p:nvPr/>
        </p:nvSpPr>
        <p:spPr>
          <a:xfrm>
            <a:off x="502920" y="1005840"/>
            <a:ext cx="11185855" cy="41148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E36414"/>
                </a:solidFill>
                <a:latin typeface="Calibri"/>
                <a:ea typeface="Calibri"/>
                <a:cs typeface="Calibri"/>
              </a:rPr>
              <a:t>DIFFERENTIABLE EARTH SYSTEM MODELING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02920" y="1463040"/>
            <a:ext cx="11185855" cy="146304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9600" b="1" dirty="0">
                <a:solidFill>
                  <a:srgbClr val="0A3A47"/>
                </a:solidFill>
                <a:latin typeface="Georgia"/>
                <a:ea typeface="Georgia"/>
                <a:cs typeface="Georgia"/>
              </a:rPr>
              <a:t>legoESM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02920" y="3108960"/>
            <a:ext cx="11185855" cy="73152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2800" i="1" dirty="0">
                <a:solidFill>
                  <a:srgbClr val="415A77"/>
                </a:solidFill>
                <a:latin typeface="Georgia"/>
                <a:ea typeface="Georgia"/>
                <a:cs typeface="Georgia"/>
              </a:rPr>
              <a:t>A fully differentiable, modular Earth System Model in JAX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02920" y="3931920"/>
            <a:ext cx="11185855" cy="54864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600" dirty="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Atmosphere · Ocean · Land · Sea ice · Coupler — end-to-end jax.grad through the coupled model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02920" y="5852160"/>
            <a:ext cx="7315200" cy="45720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Pierre Gentine and collaborators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02920" y="6309360"/>
            <a:ext cx="7315200" cy="27432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Columbia University  ·  2026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573975" y="6080760"/>
            <a:ext cx="4114800" cy="45720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 algn="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github.com/legoESM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ect 3"/>
          <p:cNvSpPr/>
          <p:nvPr/>
        </p:nvSpPr>
        <p:spPr>
          <a:xfrm>
            <a:off x="502920" y="274320"/>
            <a:ext cx="384048" cy="54864"/>
          </a:xfrm>
          <a:prstGeom prst="rect">
            <a:avLst/>
          </a:prstGeom>
          <a:solidFill>
            <a:srgbClr val="E36414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Rect 4"/>
          <p:cNvSpPr/>
          <p:nvPr/>
        </p:nvSpPr>
        <p:spPr>
          <a:xfrm>
            <a:off x="1005840" y="219456"/>
            <a:ext cx="1783080" cy="219456"/>
          </a:xfrm>
          <a:prstGeom prst="rect">
            <a:avLst/>
          </a:prstGeom>
          <a:solidFill>
            <a:srgbClr val="0F4C5C"/>
          </a:solidFill>
          <a:ln>
            <a:noFill/>
          </a:ln>
        </p:spPr>
        <p:txBody>
          <a:bodyPr wrap="square" rtlCol="0" anchor="ctr" lIns="18288" tIns="18288" rIns="18288" bIns="18288">
            <a:normAutofit/>
          </a:bodyPr>
          <a:lstStyle/>
          <a:p>
            <a:pPr algn="ct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INTRO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02920" y="502920"/>
            <a:ext cx="11185855" cy="77724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0A3A47"/>
                </a:solidFill>
                <a:latin typeface="Georgia"/>
                <a:ea typeface="Georgia"/>
                <a:cs typeface="Georgia"/>
              </a:rPr>
              <a:t>Talk outline</a:t>
            </a:r>
          </a:p>
        </p:txBody>
      </p:sp>
      <p:sp>
        <p:nvSpPr>
          <p:cNvPr id="6" name="Rect 6"/>
          <p:cNvSpPr/>
          <p:nvPr/>
        </p:nvSpPr>
        <p:spPr>
          <a:xfrm>
            <a:off x="502920" y="1280160"/>
            <a:ext cx="11185855" cy="10973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502920" y="6492240"/>
            <a:ext cx="6400800" cy="27432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900" i="1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legoESM  ·  a differentiable Earth System Model in JAX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317175" y="6492240"/>
            <a:ext cx="1371600" cy="27432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 algn="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2 / 30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02920" y="1691640"/>
            <a:ext cx="914400" cy="82296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4600" b="1" dirty="0">
                <a:solidFill>
                  <a:srgbClr val="E36414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10" name="Rect 10"/>
          <p:cNvSpPr/>
          <p:nvPr/>
        </p:nvSpPr>
        <p:spPr>
          <a:xfrm>
            <a:off x="1463040" y="1783080"/>
            <a:ext cx="18288" cy="822960"/>
          </a:xfrm>
          <a:prstGeom prst="rect">
            <a:avLst/>
          </a:prstGeom>
          <a:solidFill>
            <a:srgbClr val="0F4C5C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TextBox 11"/>
          <p:cNvSpPr txBox="1"/>
          <p:nvPr/>
        </p:nvSpPr>
        <p:spPr>
          <a:xfrm>
            <a:off x="1645920" y="1645920"/>
            <a:ext cx="10042855" cy="50292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0A3A47"/>
                </a:solidFill>
                <a:latin typeface="Georgia"/>
                <a:ea typeface="Georgia"/>
                <a:cs typeface="Georgia"/>
              </a:rPr>
              <a:t>Why a differentiable ESM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645920" y="2194560"/>
            <a:ext cx="10042855" cy="54864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Motivation, design principles, where legoESM sits in the model landscape.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02920" y="2788920"/>
            <a:ext cx="914400" cy="82296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4600" b="1" dirty="0">
                <a:solidFill>
                  <a:srgbClr val="E36414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4" name="Rect 14"/>
          <p:cNvSpPr/>
          <p:nvPr/>
        </p:nvSpPr>
        <p:spPr>
          <a:xfrm>
            <a:off x="1463040" y="2880360"/>
            <a:ext cx="18288" cy="822960"/>
          </a:xfrm>
          <a:prstGeom prst="rect">
            <a:avLst/>
          </a:prstGeom>
          <a:solidFill>
            <a:srgbClr val="0F4C5C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TextBox 15"/>
          <p:cNvSpPr txBox="1"/>
          <p:nvPr/>
        </p:nvSpPr>
        <p:spPr>
          <a:xfrm>
            <a:off x="1645920" y="2743200"/>
            <a:ext cx="10042855" cy="50292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0A3A47"/>
                </a:solidFill>
                <a:latin typeface="Georgia"/>
                <a:ea typeface="Georgia"/>
                <a:cs typeface="Georgia"/>
              </a:rPr>
              <a:t>Modularity across components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645920" y="3291840"/>
            <a:ext cx="10042855" cy="54864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Atmosphere · ocean · land · ice · coupler · grids — interchangeable lego bricks under a common JAX interface.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02920" y="3886200"/>
            <a:ext cx="914400" cy="82296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4600" b="1" dirty="0">
                <a:solidFill>
                  <a:srgbClr val="E36414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8" name="Rect 18"/>
          <p:cNvSpPr/>
          <p:nvPr/>
        </p:nvSpPr>
        <p:spPr>
          <a:xfrm>
            <a:off x="1463040" y="3977640"/>
            <a:ext cx="18288" cy="822960"/>
          </a:xfrm>
          <a:prstGeom prst="rect">
            <a:avLst/>
          </a:prstGeom>
          <a:solidFill>
            <a:srgbClr val="0F4C5C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TextBox 19"/>
          <p:cNvSpPr txBox="1"/>
          <p:nvPr/>
        </p:nvSpPr>
        <p:spPr>
          <a:xfrm>
            <a:off x="1645920" y="3840480"/>
            <a:ext cx="10042855" cy="50292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0A3A47"/>
                </a:solidFill>
                <a:latin typeface="Georgia"/>
                <a:ea typeface="Georgia"/>
                <a:cs typeface="Georgia"/>
              </a:rPr>
              <a:t>Applications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645920" y="4389120"/>
            <a:ext cx="10042855" cy="54864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AMIP / AIMIP differentiable tuning · NeuralGCM + SFNO hybrids · slab-S2S · RCE · ocean experiments.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02920" y="4983480"/>
            <a:ext cx="914400" cy="82296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4600" b="1" dirty="0">
                <a:solidFill>
                  <a:srgbClr val="E36414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22" name="Rect 22"/>
          <p:cNvSpPr/>
          <p:nvPr/>
        </p:nvSpPr>
        <p:spPr>
          <a:xfrm>
            <a:off x="1463040" y="5074920"/>
            <a:ext cx="18288" cy="822960"/>
          </a:xfrm>
          <a:prstGeom prst="rect">
            <a:avLst/>
          </a:prstGeom>
          <a:solidFill>
            <a:srgbClr val="0F4C5C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TextBox 23"/>
          <p:cNvSpPr txBox="1"/>
          <p:nvPr/>
        </p:nvSpPr>
        <p:spPr>
          <a:xfrm>
            <a:off x="1645920" y="4937760"/>
            <a:ext cx="10042855" cy="50292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0A3A47"/>
                </a:solidFill>
                <a:latin typeface="Georgia"/>
                <a:ea typeface="Georgia"/>
                <a:cs typeface="Georgia"/>
              </a:rPr>
              <a:t>Validation strategy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645920" y="5486400"/>
            <a:ext cx="10042855" cy="54864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Dycore progression suite, Williamson + DCMIP + Held-Suarez, conservation diagnostics, ocean fidelity vs Veros.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ect 3"/>
          <p:cNvSpPr/>
          <p:nvPr/>
        </p:nvSpPr>
        <p:spPr>
          <a:xfrm>
            <a:off x="502920" y="274320"/>
            <a:ext cx="384048" cy="54864"/>
          </a:xfrm>
          <a:prstGeom prst="rect">
            <a:avLst/>
          </a:prstGeom>
          <a:solidFill>
            <a:srgbClr val="E36414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Rect 4"/>
          <p:cNvSpPr/>
          <p:nvPr/>
        </p:nvSpPr>
        <p:spPr>
          <a:xfrm>
            <a:off x="1005840" y="219456"/>
            <a:ext cx="1783080" cy="219456"/>
          </a:xfrm>
          <a:prstGeom prst="rect">
            <a:avLst/>
          </a:prstGeom>
          <a:solidFill>
            <a:srgbClr val="0F4C5C"/>
          </a:solidFill>
          <a:ln>
            <a:noFill/>
          </a:ln>
        </p:spPr>
        <p:txBody>
          <a:bodyPr wrap="square" rtlCol="0" anchor="ctr" lIns="18288" tIns="18288" rIns="18288" bIns="18288">
            <a:normAutofit/>
          </a:bodyPr>
          <a:lstStyle/>
          <a:p>
            <a:pPr algn="ct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MOTIVATION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02920" y="502920"/>
            <a:ext cx="11185855" cy="77724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0A3A47"/>
                </a:solidFill>
                <a:latin typeface="Georgia"/>
                <a:ea typeface="Georgia"/>
                <a:cs typeface="Georgia"/>
              </a:rPr>
              <a:t>Why a differentiable Earth System Model</a:t>
            </a:r>
          </a:p>
        </p:txBody>
      </p:sp>
      <p:sp>
        <p:nvSpPr>
          <p:cNvPr id="6" name="Rect 6"/>
          <p:cNvSpPr/>
          <p:nvPr/>
        </p:nvSpPr>
        <p:spPr>
          <a:xfrm>
            <a:off x="502920" y="1280160"/>
            <a:ext cx="11185855" cy="10973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502920" y="6492240"/>
            <a:ext cx="6400800" cy="27432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900" i="1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legoESM  ·  a differentiable Earth System Model in JAX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317175" y="6492240"/>
            <a:ext cx="1371600" cy="27432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 algn="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3 / 30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02920" y="1554480"/>
            <a:ext cx="6035040" cy="36576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0A3A47"/>
                </a:solidFill>
                <a:latin typeface="Georgia"/>
                <a:ea typeface="Georgia"/>
                <a:cs typeface="Georgia"/>
              </a:rPr>
              <a:t>Three converging pressures on traditional ESMs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02920" y="1965960"/>
            <a:ext cx="6035040" cy="411480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  <a:buNone/>
            </a:pPr>
            <a:r>
              <a:rPr lang="en-US" sz="1350" b="1" dirty="0">
                <a:solidFill>
                  <a:srgbClr val="E36414"/>
                </a:solidFill>
                <a:latin typeface="Calibri"/>
                <a:ea typeface="Calibri"/>
                <a:cs typeface="Calibri"/>
              </a:rPr>
              <a:t>▸  </a:t>
            </a:r>
            <a:r>
              <a:rPr lang="en-US" sz="135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Parameter tuning is the bottleneck: cloud / convection / mixing constants are calibrated by hand against scarce observations, with no gradients.</a:t>
            </a:r>
          </a:p>
          <a:p>
            <a:pPr>
              <a:lnSpc>
                <a:spcPct val="122000"/>
              </a:lnSpc>
              <a:spcAft>
                <a:spcPts val="700"/>
              </a:spcAft>
              <a:buNone/>
            </a:pPr>
            <a:r>
              <a:rPr lang="en-US" sz="1350" b="1" dirty="0">
                <a:solidFill>
                  <a:srgbClr val="E36414"/>
                </a:solidFill>
                <a:latin typeface="Calibri"/>
                <a:ea typeface="Calibri"/>
                <a:cs typeface="Calibri"/>
              </a:rPr>
              <a:t>▸  </a:t>
            </a:r>
            <a:r>
              <a:rPr lang="en-US" sz="135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AI weather models (GraphCast, FourCastNet, ACE) are fast and skillful — but pure black boxes, no conservation, no prognostic ocean or land.</a:t>
            </a:r>
          </a:p>
          <a:p>
            <a:pPr>
              <a:lnSpc>
                <a:spcPct val="122000"/>
              </a:lnSpc>
              <a:spcAft>
                <a:spcPts val="700"/>
              </a:spcAft>
              <a:buNone/>
            </a:pPr>
            <a:r>
              <a:rPr lang="en-US" sz="1350" b="1" dirty="0">
                <a:solidFill>
                  <a:srgbClr val="E36414"/>
                </a:solidFill>
                <a:latin typeface="Calibri"/>
                <a:ea typeface="Calibri"/>
                <a:cs typeface="Calibri"/>
              </a:rPr>
              <a:t>▸  </a:t>
            </a:r>
            <a:r>
              <a:rPr lang="en-US" sz="135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Hybrid AI–physics requires differentiating through the dynamics: today this means writing a separate adjoint code (E3SM / MITgcm) or living without one.</a:t>
            </a:r>
          </a:p>
          <a:p>
            <a:pPr>
              <a:lnSpc>
                <a:spcPct val="122000"/>
              </a:lnSpc>
              <a:spcAft>
                <a:spcPts val="700"/>
              </a:spcAft>
              <a:buNone/>
            </a:pPr>
            <a:r>
              <a:rPr lang="en-US" sz="1350" b="1" dirty="0">
                <a:solidFill>
                  <a:srgbClr val="E36414"/>
                </a:solidFill>
                <a:latin typeface="Calibri"/>
                <a:ea typeface="Calibri"/>
                <a:cs typeface="Calibri"/>
              </a:rPr>
              <a:t>▸  </a:t>
            </a:r>
            <a:r>
              <a:rPr lang="en-US" sz="135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Modern accelerators (GPU / TPU) reward array-language ESMs; the Fortran / MPI stack is increasingly off the critical path.</a:t>
            </a:r>
          </a:p>
        </p:txBody>
      </p:sp>
      <p:sp>
        <p:nvSpPr>
          <p:cNvPr id="11" name="Rect 11"/>
          <p:cNvSpPr/>
          <p:nvPr/>
        </p:nvSpPr>
        <p:spPr>
          <a:xfrm>
            <a:off x="6858000" y="1554480"/>
            <a:ext cx="4830775" cy="452628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12" name="TextBox 12"/>
          <p:cNvSpPr txBox="1"/>
          <p:nvPr/>
        </p:nvSpPr>
        <p:spPr>
          <a:xfrm>
            <a:off x="7086600" y="1691640"/>
            <a:ext cx="4373575" cy="36576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E36414"/>
                </a:solidFill>
                <a:latin typeface="Georgia"/>
                <a:ea typeface="Georgia"/>
                <a:cs typeface="Georgia"/>
              </a:rPr>
              <a:t>Our hypothesis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086600" y="2103120"/>
            <a:ext cx="4373575" cy="393192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A modern Earth System Model should be:</a:t>
            </a:r>
          </a:p>
          <a:p>
            <a:pPr>
              <a:lnSpc>
                <a:spcPct val="125000"/>
              </a:lnSpc>
              <a:spcAft>
                <a:spcPts val="3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  · written in one differentiable array language</a:t>
            </a:r>
          </a:p>
          <a:p>
            <a:pPr>
              <a:lnSpc>
                <a:spcPct val="125000"/>
              </a:lnSpc>
              <a:spcAft>
                <a:spcPts val="3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  · modular across components, grids, and complexities</a:t>
            </a:r>
          </a:p>
          <a:p>
            <a:pPr>
              <a:lnSpc>
                <a:spcPct val="125000"/>
              </a:lnSpc>
              <a:spcAft>
                <a:spcPts val="3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  · GPU / TPU / CPU / MPI portable</a:t>
            </a:r>
          </a:p>
          <a:p>
            <a:pPr>
              <a:lnSpc>
                <a:spcPct val="125000"/>
              </a:lnSpc>
              <a:spcAft>
                <a:spcPts val="3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  · conservative by construction</a:t>
            </a:r>
          </a:p>
          <a:p>
            <a:pPr>
              <a:lnSpc>
                <a:spcPct val="125000"/>
              </a:lnSpc>
              <a:spcAft>
                <a:spcPts val="3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  · open to both classical physics and ML cores under the same interface</a:t>
            </a:r>
          </a:p>
          <a:p>
            <a:pPr>
              <a:spcAft>
                <a:spcPts val="400"/>
              </a:spcAft>
              <a:buNone/>
            </a:pPr>
            <a:endParaRPr lang="en-US"/>
          </a:p>
          <a:p>
            <a:pPr>
              <a:lnSpc>
                <a:spcPct val="125000"/>
              </a:lnSpc>
              <a:spcAft>
                <a:spcPts val="3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Then parameter estimation, 4D-Var, sensitivity, and hybrid ML become first-class workflows — not retrofits.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ect 3"/>
          <p:cNvSpPr/>
          <p:nvPr/>
        </p:nvSpPr>
        <p:spPr>
          <a:xfrm>
            <a:off x="502920" y="274320"/>
            <a:ext cx="384048" cy="54864"/>
          </a:xfrm>
          <a:prstGeom prst="rect">
            <a:avLst/>
          </a:prstGeom>
          <a:solidFill>
            <a:srgbClr val="E36414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Rect 4"/>
          <p:cNvSpPr/>
          <p:nvPr/>
        </p:nvSpPr>
        <p:spPr>
          <a:xfrm>
            <a:off x="1005840" y="219456"/>
            <a:ext cx="1783080" cy="219456"/>
          </a:xfrm>
          <a:prstGeom prst="rect">
            <a:avLst/>
          </a:prstGeom>
          <a:solidFill>
            <a:srgbClr val="0F4C5C"/>
          </a:solidFill>
          <a:ln>
            <a:noFill/>
          </a:ln>
        </p:spPr>
        <p:txBody>
          <a:bodyPr wrap="square" rtlCol="0" anchor="ctr" lIns="18288" tIns="18288" rIns="18288" bIns="18288">
            <a:normAutofit/>
          </a:bodyPr>
          <a:lstStyle/>
          <a:p>
            <a:pPr algn="ct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PRINCIPLES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02920" y="502920"/>
            <a:ext cx="11185855" cy="77724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0A3A47"/>
                </a:solidFill>
                <a:latin typeface="Georgia"/>
                <a:ea typeface="Georgia"/>
                <a:cs typeface="Georgia"/>
              </a:rPr>
              <a:t>Five design principles</a:t>
            </a:r>
          </a:p>
        </p:txBody>
      </p:sp>
      <p:sp>
        <p:nvSpPr>
          <p:cNvPr id="6" name="Rect 6"/>
          <p:cNvSpPr/>
          <p:nvPr/>
        </p:nvSpPr>
        <p:spPr>
          <a:xfrm>
            <a:off x="502920" y="1280160"/>
            <a:ext cx="11185855" cy="10973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502920" y="6492240"/>
            <a:ext cx="6400800" cy="27432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900" i="1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legoESM  ·  a differentiable Earth System Model in JAX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317175" y="6492240"/>
            <a:ext cx="1371600" cy="27432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 algn="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4 / 30</a:t>
            </a:r>
          </a:p>
        </p:txBody>
      </p:sp>
      <p:sp>
        <p:nvSpPr>
          <p:cNvPr id="9" name="Rect 9"/>
          <p:cNvSpPr/>
          <p:nvPr/>
        </p:nvSpPr>
        <p:spPr>
          <a:xfrm>
            <a:off x="536296" y="1600200"/>
            <a:ext cx="3584448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10" name="Rect 10"/>
          <p:cNvSpPr/>
          <p:nvPr/>
        </p:nvSpPr>
        <p:spPr>
          <a:xfrm>
            <a:off x="682600" y="1746504"/>
            <a:ext cx="274320" cy="274320"/>
          </a:xfrm>
          <a:prstGeom prst="rect">
            <a:avLst/>
          </a:prstGeom>
          <a:solidFill>
            <a:srgbClr val="E36414"/>
          </a:solidFill>
          <a:ln>
            <a:noFill/>
          </a:ln>
        </p:spPr>
        <p:txBody>
          <a:bodyPr wrap="square" rtlCol="0" anchor="ctr" lIns="0" tIns="0" rIns="0" bIns="0">
            <a:normAutofit/>
          </a:bodyPr>
          <a:lstStyle/>
          <a:p>
            <a:pPr algn="ct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84936" y="1746504"/>
            <a:ext cx="2852928" cy="36576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A3A47"/>
                </a:solidFill>
                <a:latin typeface="Georgia"/>
                <a:ea typeface="Georgia"/>
                <a:cs typeface="Georgia"/>
              </a:rPr>
              <a:t>Differentiable-first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19176" y="2194560"/>
            <a:ext cx="3218688" cy="114300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End-to-end jax.grad / eqx.filter_value_and_grad through the coupled model — including MPI halo exchange and global reductions.</a:t>
            </a:r>
          </a:p>
        </p:txBody>
      </p:sp>
      <p:sp>
        <p:nvSpPr>
          <p:cNvPr id="13" name="Rect 13"/>
          <p:cNvSpPr/>
          <p:nvPr/>
        </p:nvSpPr>
        <p:spPr>
          <a:xfrm>
            <a:off x="4303624" y="1600200"/>
            <a:ext cx="3584448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14" name="Rect 14"/>
          <p:cNvSpPr/>
          <p:nvPr/>
        </p:nvSpPr>
        <p:spPr>
          <a:xfrm>
            <a:off x="4449928" y="1746504"/>
            <a:ext cx="274320" cy="274320"/>
          </a:xfrm>
          <a:prstGeom prst="rect">
            <a:avLst/>
          </a:prstGeom>
          <a:solidFill>
            <a:srgbClr val="E36414"/>
          </a:solidFill>
          <a:ln>
            <a:noFill/>
          </a:ln>
        </p:spPr>
        <p:txBody>
          <a:bodyPr wrap="square" rtlCol="0" anchor="ctr" lIns="0" tIns="0" rIns="0" bIns="0">
            <a:normAutofit/>
          </a:bodyPr>
          <a:lstStyle/>
          <a:p>
            <a:pPr algn="ct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852264" y="1746504"/>
            <a:ext cx="2852928" cy="36576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A3A47"/>
                </a:solidFill>
                <a:latin typeface="Georgia"/>
                <a:ea typeface="Georgia"/>
                <a:cs typeface="Georgia"/>
              </a:rPr>
              <a:t>Conservation by construction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486504" y="2194560"/>
            <a:ext cx="3218688" cy="114300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Mass conserved exactly; energy &amp; momentum tracked diagnostically with explicit budget closure.</a:t>
            </a:r>
          </a:p>
        </p:txBody>
      </p:sp>
      <p:sp>
        <p:nvSpPr>
          <p:cNvPr id="17" name="Rect 17"/>
          <p:cNvSpPr/>
          <p:nvPr/>
        </p:nvSpPr>
        <p:spPr>
          <a:xfrm>
            <a:off x="8070952" y="1600200"/>
            <a:ext cx="3584448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18" name="Rect 18"/>
          <p:cNvSpPr/>
          <p:nvPr/>
        </p:nvSpPr>
        <p:spPr>
          <a:xfrm>
            <a:off x="8217256" y="1746504"/>
            <a:ext cx="274320" cy="274320"/>
          </a:xfrm>
          <a:prstGeom prst="rect">
            <a:avLst/>
          </a:prstGeom>
          <a:solidFill>
            <a:srgbClr val="E36414"/>
          </a:solidFill>
          <a:ln>
            <a:noFill/>
          </a:ln>
        </p:spPr>
        <p:txBody>
          <a:bodyPr wrap="square" rtlCol="0" anchor="ctr" lIns="0" tIns="0" rIns="0" bIns="0">
            <a:normAutofit/>
          </a:bodyPr>
          <a:lstStyle/>
          <a:p>
            <a:pPr algn="ct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619592" y="1746504"/>
            <a:ext cx="2852928" cy="36576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A3A47"/>
                </a:solidFill>
                <a:latin typeface="Georgia"/>
                <a:ea typeface="Georgia"/>
                <a:cs typeface="Georgia"/>
              </a:rPr>
              <a:t>Modular &amp; swappable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253832" y="2194560"/>
            <a:ext cx="3218688" cy="114300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Standard tensor-in / tendency-out interfaces; dynamical cores, physics, grids, and time integrators all hot-swappable.</a:t>
            </a:r>
          </a:p>
        </p:txBody>
      </p:sp>
      <p:sp>
        <p:nvSpPr>
          <p:cNvPr id="21" name="Rect 21"/>
          <p:cNvSpPr/>
          <p:nvPr/>
        </p:nvSpPr>
        <p:spPr>
          <a:xfrm>
            <a:off x="2419960" y="3749040"/>
            <a:ext cx="3584448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22" name="Rect 22"/>
          <p:cNvSpPr/>
          <p:nvPr/>
        </p:nvSpPr>
        <p:spPr>
          <a:xfrm>
            <a:off x="2566264" y="3895344"/>
            <a:ext cx="274320" cy="274320"/>
          </a:xfrm>
          <a:prstGeom prst="rect">
            <a:avLst/>
          </a:prstGeom>
          <a:solidFill>
            <a:srgbClr val="E36414"/>
          </a:solidFill>
          <a:ln>
            <a:noFill/>
          </a:ln>
        </p:spPr>
        <p:txBody>
          <a:bodyPr wrap="square" rtlCol="0" anchor="ctr" lIns="0" tIns="0" rIns="0" bIns="0">
            <a:normAutofit/>
          </a:bodyPr>
          <a:lstStyle/>
          <a:p>
            <a:pPr algn="ct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968600" y="3895344"/>
            <a:ext cx="2852928" cy="36576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A3A47"/>
                </a:solidFill>
                <a:latin typeface="Georgia"/>
                <a:ea typeface="Georgia"/>
                <a:cs typeface="Georgia"/>
              </a:rPr>
              <a:t>Multi-grid native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602840" y="4343400"/>
            <a:ext cx="3218688" cy="114300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Cubed-sphere C-D · lat-lon C · Gaussian / spectral · MPAS Voronoi — shared FV / spectral operators where numerics permit.</a:t>
            </a:r>
          </a:p>
        </p:txBody>
      </p:sp>
      <p:sp>
        <p:nvSpPr>
          <p:cNvPr id="25" name="Rect 25"/>
          <p:cNvSpPr/>
          <p:nvPr/>
        </p:nvSpPr>
        <p:spPr>
          <a:xfrm>
            <a:off x="6187288" y="3749040"/>
            <a:ext cx="3584448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26" name="Rect 26"/>
          <p:cNvSpPr/>
          <p:nvPr/>
        </p:nvSpPr>
        <p:spPr>
          <a:xfrm>
            <a:off x="6333592" y="3895344"/>
            <a:ext cx="274320" cy="274320"/>
          </a:xfrm>
          <a:prstGeom prst="rect">
            <a:avLst/>
          </a:prstGeom>
          <a:solidFill>
            <a:srgbClr val="E36414"/>
          </a:solidFill>
          <a:ln>
            <a:noFill/>
          </a:ln>
        </p:spPr>
        <p:txBody>
          <a:bodyPr wrap="square" rtlCol="0" anchor="ctr" lIns="0" tIns="0" rIns="0" bIns="0">
            <a:normAutofit/>
          </a:bodyPr>
          <a:lstStyle/>
          <a:p>
            <a:pPr algn="ct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735928" y="3895344"/>
            <a:ext cx="2852928" cy="36576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A3A47"/>
                </a:solidFill>
                <a:latin typeface="Georgia"/>
                <a:ea typeface="Georgia"/>
                <a:cs typeface="Georgia"/>
              </a:rPr>
              <a:t>AI-ready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370168" y="4343400"/>
            <a:ext cx="3218688" cy="114300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SFNO neural cores and ML parameterizations coexist with classical physics under the same interface. ERA5 ingestion built in.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ect 3"/>
          <p:cNvSpPr/>
          <p:nvPr/>
        </p:nvSpPr>
        <p:spPr>
          <a:xfrm>
            <a:off x="502920" y="274320"/>
            <a:ext cx="384048" cy="54864"/>
          </a:xfrm>
          <a:prstGeom prst="rect">
            <a:avLst/>
          </a:prstGeom>
          <a:solidFill>
            <a:srgbClr val="E36414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Rect 4"/>
          <p:cNvSpPr/>
          <p:nvPr/>
        </p:nvSpPr>
        <p:spPr>
          <a:xfrm>
            <a:off x="1005840" y="219456"/>
            <a:ext cx="1783080" cy="219456"/>
          </a:xfrm>
          <a:prstGeom prst="rect">
            <a:avLst/>
          </a:prstGeom>
          <a:solidFill>
            <a:srgbClr val="0F4C5C"/>
          </a:solidFill>
          <a:ln>
            <a:noFill/>
          </a:ln>
        </p:spPr>
        <p:txBody>
          <a:bodyPr wrap="square" rtlCol="0" anchor="ctr" lIns="18288" tIns="18288" rIns="18288" bIns="18288">
            <a:normAutofit/>
          </a:bodyPr>
          <a:lstStyle/>
          <a:p>
            <a:pPr algn="ct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LANDSCAPE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02920" y="502920"/>
            <a:ext cx="11185855" cy="77724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0A3A47"/>
                </a:solidFill>
                <a:latin typeface="Georgia"/>
                <a:ea typeface="Georgia"/>
                <a:cs typeface="Georgia"/>
              </a:rPr>
              <a:t>Where legoESM sits in the modeling landscape</a:t>
            </a:r>
          </a:p>
        </p:txBody>
      </p:sp>
      <p:sp>
        <p:nvSpPr>
          <p:cNvPr id="6" name="Rect 6"/>
          <p:cNvSpPr/>
          <p:nvPr/>
        </p:nvSpPr>
        <p:spPr>
          <a:xfrm>
            <a:off x="502920" y="1280160"/>
            <a:ext cx="11185855" cy="10973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502920" y="6492240"/>
            <a:ext cx="6400800" cy="27432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900" i="1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legoESM  ·  a differentiable Earth System Model in JAX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317175" y="6492240"/>
            <a:ext cx="1371600" cy="27432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 algn="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5 / 30</a:t>
            </a:r>
          </a:p>
        </p:txBody>
      </p:sp>
      <p:sp>
        <p:nvSpPr>
          <p:cNvPr id="9" name="Rect 9"/>
          <p:cNvSpPr/>
          <p:nvPr/>
        </p:nvSpPr>
        <p:spPr>
          <a:xfrm>
            <a:off x="502920" y="1645920"/>
            <a:ext cx="11185855" cy="384048"/>
          </a:xfrm>
          <a:prstGeom prst="rect">
            <a:avLst/>
          </a:prstGeom>
          <a:solidFill>
            <a:srgbClr val="0F4C5C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Box 10"/>
          <p:cNvSpPr txBox="1"/>
          <p:nvPr/>
        </p:nvSpPr>
        <p:spPr>
          <a:xfrm>
            <a:off x="594360" y="1645920"/>
            <a:ext cx="1764888" cy="384048"/>
          </a:xfrm>
          <a:prstGeom prst="rect">
            <a:avLst/>
          </a:prstGeom>
          <a:noFill/>
        </p:spPr>
        <p:txBody>
          <a:bodyPr wrap="square" rtlCol="0" anchor="ctr" lIns="0" tIns="0" rIns="0" bIns="0">
            <a:normAutofit/>
          </a:bodyPr>
          <a:lstStyle/>
          <a:p>
            <a:pPr algn="ct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Model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496408" y="1645920"/>
            <a:ext cx="1583741" cy="384048"/>
          </a:xfrm>
          <a:prstGeom prst="rect">
            <a:avLst/>
          </a:prstGeom>
          <a:noFill/>
        </p:spPr>
        <p:txBody>
          <a:bodyPr wrap="square" rtlCol="0" anchor="ctr" lIns="0" tIns="0" rIns="0" bIns="0">
            <a:normAutofit/>
          </a:bodyPr>
          <a:lstStyle/>
          <a:p>
            <a:pPr algn="ct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Language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217309" y="1645920"/>
            <a:ext cx="2081896" cy="384048"/>
          </a:xfrm>
          <a:prstGeom prst="rect">
            <a:avLst/>
          </a:prstGeom>
          <a:noFill/>
        </p:spPr>
        <p:txBody>
          <a:bodyPr wrap="square" rtlCol="0" anchor="ctr" lIns="0" tIns="0" rIns="0" bIns="0">
            <a:normAutofit/>
          </a:bodyPr>
          <a:lstStyle/>
          <a:p>
            <a:pPr algn="ct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Dynamics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436365" y="1645920"/>
            <a:ext cx="1855462" cy="384048"/>
          </a:xfrm>
          <a:prstGeom prst="rect">
            <a:avLst/>
          </a:prstGeom>
          <a:noFill/>
        </p:spPr>
        <p:txBody>
          <a:bodyPr wrap="square" rtlCol="0" anchor="ctr" lIns="0" tIns="0" rIns="0" bIns="0">
            <a:normAutofit/>
          </a:bodyPr>
          <a:lstStyle/>
          <a:p>
            <a:pPr algn="ct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Differentiability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428987" y="1645920"/>
            <a:ext cx="2036609" cy="384048"/>
          </a:xfrm>
          <a:prstGeom prst="rect">
            <a:avLst/>
          </a:prstGeom>
          <a:noFill/>
        </p:spPr>
        <p:txBody>
          <a:bodyPr wrap="square" rtlCol="0" anchor="ctr" lIns="0" tIns="0" rIns="0" bIns="0">
            <a:normAutofit/>
          </a:bodyPr>
          <a:lstStyle/>
          <a:p>
            <a:pPr algn="ct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Prognostic components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602757" y="1645920"/>
            <a:ext cx="1040298" cy="384048"/>
          </a:xfrm>
          <a:prstGeom prst="rect">
            <a:avLst/>
          </a:prstGeom>
          <a:noFill/>
        </p:spPr>
        <p:txBody>
          <a:bodyPr wrap="square" rtlCol="0" anchor="ctr" lIns="0" tIns="0" rIns="0" bIns="0">
            <a:normAutofit/>
          </a:bodyPr>
          <a:lstStyle/>
          <a:p>
            <a:pPr algn="ct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ML cores</a:t>
            </a:r>
          </a:p>
        </p:txBody>
      </p:sp>
      <p:sp>
        <p:nvSpPr>
          <p:cNvPr id="16" name="Rect 16"/>
          <p:cNvSpPr/>
          <p:nvPr/>
        </p:nvSpPr>
        <p:spPr>
          <a:xfrm>
            <a:off x="502920" y="2029968"/>
            <a:ext cx="1118585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TextBox 17"/>
          <p:cNvSpPr txBox="1"/>
          <p:nvPr/>
        </p:nvSpPr>
        <p:spPr>
          <a:xfrm>
            <a:off x="594360" y="2029968"/>
            <a:ext cx="1764888" cy="713232"/>
          </a:xfrm>
          <a:prstGeom prst="rect">
            <a:avLst/>
          </a:prstGeom>
          <a:noFill/>
        </p:spPr>
        <p:txBody>
          <a:bodyPr wrap="square" rtlCol="0" anchor="ctr" lIns="0" tIns="0" rIns="0" bIns="0">
            <a:normAutofit/>
          </a:bodyPr>
          <a:lstStyle/>
          <a:p>
            <a:pPr algn="ct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E3SM / CESM / ICON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96408" y="2029968"/>
            <a:ext cx="1583741" cy="713232"/>
          </a:xfrm>
          <a:prstGeom prst="rect">
            <a:avLst/>
          </a:prstGeom>
          <a:noFill/>
        </p:spPr>
        <p:txBody>
          <a:bodyPr wrap="square" rtlCol="0" anchor="ctr" lIns="0" tIns="0" rIns="0" bIns="0">
            <a:normAutofit/>
          </a:bodyPr>
          <a:lstStyle/>
          <a:p>
            <a:pPr algn="ct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Fortran + MPI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217309" y="2029968"/>
            <a:ext cx="2081896" cy="713232"/>
          </a:xfrm>
          <a:prstGeom prst="rect">
            <a:avLst/>
          </a:prstGeom>
          <a:noFill/>
        </p:spPr>
        <p:txBody>
          <a:bodyPr wrap="square" rtlCol="0" anchor="ctr" lIns="0" tIns="0" rIns="0" bIns="0">
            <a:normAutofit/>
          </a:bodyPr>
          <a:lstStyle/>
          <a:p>
            <a:pPr algn="ct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Multiple, hand-coded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436365" y="2029968"/>
            <a:ext cx="1855462" cy="713232"/>
          </a:xfrm>
          <a:prstGeom prst="rect">
            <a:avLst/>
          </a:prstGeom>
          <a:noFill/>
        </p:spPr>
        <p:txBody>
          <a:bodyPr wrap="square" rtlCol="0" anchor="ctr" lIns="0" tIns="0" rIns="0" bIns="0">
            <a:normAutofit/>
          </a:bodyPr>
          <a:lstStyle/>
          <a:p>
            <a:pPr algn="ct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Separate adjoint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428987" y="2029968"/>
            <a:ext cx="2036609" cy="713232"/>
          </a:xfrm>
          <a:prstGeom prst="rect">
            <a:avLst/>
          </a:prstGeom>
          <a:noFill/>
        </p:spPr>
        <p:txBody>
          <a:bodyPr wrap="square" rtlCol="0" anchor="ctr" lIns="0" tIns="0" rIns="0" bIns="0">
            <a:normAutofit/>
          </a:bodyPr>
          <a:lstStyle/>
          <a:p>
            <a:pPr algn="ct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Yes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602757" y="2029968"/>
            <a:ext cx="1040298" cy="713232"/>
          </a:xfrm>
          <a:prstGeom prst="rect">
            <a:avLst/>
          </a:prstGeom>
          <a:noFill/>
        </p:spPr>
        <p:txBody>
          <a:bodyPr wrap="square" rtlCol="0" anchor="ctr" lIns="0" tIns="0" rIns="0" bIns="0">
            <a:normAutofit/>
          </a:bodyPr>
          <a:lstStyle/>
          <a:p>
            <a:pPr algn="ct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Bolt-on</a:t>
            </a:r>
          </a:p>
        </p:txBody>
      </p:sp>
      <p:sp>
        <p:nvSpPr>
          <p:cNvPr id="23" name="Rect 23"/>
          <p:cNvSpPr/>
          <p:nvPr/>
        </p:nvSpPr>
        <p:spPr>
          <a:xfrm>
            <a:off x="502920" y="2743200"/>
            <a:ext cx="11185855" cy="7132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TextBox 24"/>
          <p:cNvSpPr txBox="1"/>
          <p:nvPr/>
        </p:nvSpPr>
        <p:spPr>
          <a:xfrm>
            <a:off x="594360" y="2743200"/>
            <a:ext cx="1764888" cy="713232"/>
          </a:xfrm>
          <a:prstGeom prst="rect">
            <a:avLst/>
          </a:prstGeom>
          <a:noFill/>
        </p:spPr>
        <p:txBody>
          <a:bodyPr wrap="square" rtlCol="0" anchor="ctr" lIns="0" tIns="0" rIns="0" bIns="0">
            <a:normAutofit/>
          </a:bodyPr>
          <a:lstStyle/>
          <a:p>
            <a:pPr algn="ct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MOM6 / NEMO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496408" y="2743200"/>
            <a:ext cx="1583741" cy="713232"/>
          </a:xfrm>
          <a:prstGeom prst="rect">
            <a:avLst/>
          </a:prstGeom>
          <a:noFill/>
        </p:spPr>
        <p:txBody>
          <a:bodyPr wrap="square" rtlCol="0" anchor="ctr" lIns="0" tIns="0" rIns="0" bIns="0">
            <a:normAutofit/>
          </a:bodyPr>
          <a:lstStyle/>
          <a:p>
            <a:pPr algn="ct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Fortran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217309" y="2743200"/>
            <a:ext cx="2081896" cy="713232"/>
          </a:xfrm>
          <a:prstGeom prst="rect">
            <a:avLst/>
          </a:prstGeom>
          <a:noFill/>
        </p:spPr>
        <p:txBody>
          <a:bodyPr wrap="square" rtlCol="0" anchor="ctr" lIns="0" tIns="0" rIns="0" bIns="0">
            <a:normAutofit/>
          </a:bodyPr>
          <a:lstStyle/>
          <a:p>
            <a:pPr algn="ct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Ocean only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436365" y="2743200"/>
            <a:ext cx="1855462" cy="713232"/>
          </a:xfrm>
          <a:prstGeom prst="rect">
            <a:avLst/>
          </a:prstGeom>
          <a:noFill/>
        </p:spPr>
        <p:txBody>
          <a:bodyPr wrap="square" rtlCol="0" anchor="ctr" lIns="0" tIns="0" rIns="0" bIns="0">
            <a:normAutofit/>
          </a:bodyPr>
          <a:lstStyle/>
          <a:p>
            <a:pPr algn="ct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Limited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428987" y="2743200"/>
            <a:ext cx="2036609" cy="713232"/>
          </a:xfrm>
          <a:prstGeom prst="rect">
            <a:avLst/>
          </a:prstGeom>
          <a:noFill/>
        </p:spPr>
        <p:txBody>
          <a:bodyPr wrap="square" rtlCol="0" anchor="ctr" lIns="0" tIns="0" rIns="0" bIns="0">
            <a:normAutofit/>
          </a:bodyPr>
          <a:lstStyle/>
          <a:p>
            <a:pPr algn="ct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—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602757" y="2743200"/>
            <a:ext cx="1040298" cy="713232"/>
          </a:xfrm>
          <a:prstGeom prst="rect">
            <a:avLst/>
          </a:prstGeom>
          <a:noFill/>
        </p:spPr>
        <p:txBody>
          <a:bodyPr wrap="square" rtlCol="0" anchor="ctr" lIns="0" tIns="0" rIns="0" bIns="0">
            <a:normAutofit/>
          </a:bodyPr>
          <a:lstStyle/>
          <a:p>
            <a:pPr algn="ct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—</a:t>
            </a:r>
          </a:p>
        </p:txBody>
      </p:sp>
      <p:sp>
        <p:nvSpPr>
          <p:cNvPr id="30" name="Rect 30"/>
          <p:cNvSpPr/>
          <p:nvPr/>
        </p:nvSpPr>
        <p:spPr>
          <a:xfrm>
            <a:off x="502920" y="3456432"/>
            <a:ext cx="1118585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TextBox 31"/>
          <p:cNvSpPr txBox="1"/>
          <p:nvPr/>
        </p:nvSpPr>
        <p:spPr>
          <a:xfrm>
            <a:off x="594360" y="3456432"/>
            <a:ext cx="1764888" cy="713232"/>
          </a:xfrm>
          <a:prstGeom prst="rect">
            <a:avLst/>
          </a:prstGeom>
          <a:noFill/>
        </p:spPr>
        <p:txBody>
          <a:bodyPr wrap="square" rtlCol="0" anchor="ctr" lIns="0" tIns="0" rIns="0" bIns="0">
            <a:normAutofit/>
          </a:bodyPr>
          <a:lstStyle/>
          <a:p>
            <a:pPr algn="ct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NeuralGCM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496408" y="3456432"/>
            <a:ext cx="1583741" cy="713232"/>
          </a:xfrm>
          <a:prstGeom prst="rect">
            <a:avLst/>
          </a:prstGeom>
          <a:noFill/>
        </p:spPr>
        <p:txBody>
          <a:bodyPr wrap="square" rtlCol="0" anchor="ctr" lIns="0" tIns="0" rIns="0" bIns="0">
            <a:normAutofit/>
          </a:bodyPr>
          <a:lstStyle/>
          <a:p>
            <a:pPr algn="ct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JAX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217309" y="3456432"/>
            <a:ext cx="2081896" cy="713232"/>
          </a:xfrm>
          <a:prstGeom prst="rect">
            <a:avLst/>
          </a:prstGeom>
          <a:noFill/>
        </p:spPr>
        <p:txBody>
          <a:bodyPr wrap="square" rtlCol="0" anchor="ctr" lIns="0" tIns="0" rIns="0" bIns="0">
            <a:normAutofit/>
          </a:bodyPr>
          <a:lstStyle/>
          <a:p>
            <a:pPr algn="ct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Spectral PE + NN physics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436365" y="3456432"/>
            <a:ext cx="1855462" cy="713232"/>
          </a:xfrm>
          <a:prstGeom prst="rect">
            <a:avLst/>
          </a:prstGeom>
          <a:noFill/>
        </p:spPr>
        <p:txBody>
          <a:bodyPr wrap="square" rtlCol="0" anchor="ctr" lIns="0" tIns="0" rIns="0" bIns="0">
            <a:normAutofit/>
          </a:bodyPr>
          <a:lstStyle/>
          <a:p>
            <a:pPr algn="ct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Yes (built-in)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428987" y="3456432"/>
            <a:ext cx="2036609" cy="713232"/>
          </a:xfrm>
          <a:prstGeom prst="rect">
            <a:avLst/>
          </a:prstGeom>
          <a:noFill/>
        </p:spPr>
        <p:txBody>
          <a:bodyPr wrap="square" rtlCol="0" anchor="ctr" lIns="0" tIns="0" rIns="0" bIns="0">
            <a:normAutofit/>
          </a:bodyPr>
          <a:lstStyle/>
          <a:p>
            <a:pPr algn="ct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No prognostic ocean / ice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0602757" y="3456432"/>
            <a:ext cx="1040298" cy="713232"/>
          </a:xfrm>
          <a:prstGeom prst="rect">
            <a:avLst/>
          </a:prstGeom>
          <a:noFill/>
        </p:spPr>
        <p:txBody>
          <a:bodyPr wrap="square" rtlCol="0" anchor="ctr" lIns="0" tIns="0" rIns="0" bIns="0">
            <a:normAutofit/>
          </a:bodyPr>
          <a:lstStyle/>
          <a:p>
            <a:pPr algn="ct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Native</a:t>
            </a:r>
          </a:p>
        </p:txBody>
      </p:sp>
      <p:sp>
        <p:nvSpPr>
          <p:cNvPr id="37" name="Rect 37"/>
          <p:cNvSpPr/>
          <p:nvPr/>
        </p:nvSpPr>
        <p:spPr>
          <a:xfrm>
            <a:off x="502920" y="4169664"/>
            <a:ext cx="11185855" cy="7132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Box 38"/>
          <p:cNvSpPr txBox="1"/>
          <p:nvPr/>
        </p:nvSpPr>
        <p:spPr>
          <a:xfrm>
            <a:off x="594360" y="4169664"/>
            <a:ext cx="1764888" cy="713232"/>
          </a:xfrm>
          <a:prstGeom prst="rect">
            <a:avLst/>
          </a:prstGeom>
          <a:noFill/>
        </p:spPr>
        <p:txBody>
          <a:bodyPr wrap="square" rtlCol="0" anchor="ctr" lIns="0" tIns="0" rIns="0" bIns="0">
            <a:normAutofit/>
          </a:bodyPr>
          <a:lstStyle/>
          <a:p>
            <a:pPr algn="ct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GraphCast / ACE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2496408" y="4169664"/>
            <a:ext cx="1583741" cy="713232"/>
          </a:xfrm>
          <a:prstGeom prst="rect">
            <a:avLst/>
          </a:prstGeom>
          <a:noFill/>
        </p:spPr>
        <p:txBody>
          <a:bodyPr wrap="square" rtlCol="0" anchor="ctr" lIns="0" tIns="0" rIns="0" bIns="0">
            <a:normAutofit/>
          </a:bodyPr>
          <a:lstStyle/>
          <a:p>
            <a:pPr algn="ct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PyTorch / JAX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4217309" y="4169664"/>
            <a:ext cx="2081896" cy="713232"/>
          </a:xfrm>
          <a:prstGeom prst="rect">
            <a:avLst/>
          </a:prstGeom>
          <a:noFill/>
        </p:spPr>
        <p:txBody>
          <a:bodyPr wrap="square" rtlCol="0" anchor="ctr" lIns="0" tIns="0" rIns="0" bIns="0">
            <a:normAutofit/>
          </a:bodyPr>
          <a:lstStyle/>
          <a:p>
            <a:pPr algn="ct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Learned (no dycore)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436365" y="4169664"/>
            <a:ext cx="1855462" cy="713232"/>
          </a:xfrm>
          <a:prstGeom prst="rect">
            <a:avLst/>
          </a:prstGeom>
          <a:noFill/>
        </p:spPr>
        <p:txBody>
          <a:bodyPr wrap="square" rtlCol="0" anchor="ctr" lIns="0" tIns="0" rIns="0" bIns="0">
            <a:normAutofit/>
          </a:bodyPr>
          <a:lstStyle/>
          <a:p>
            <a:pPr algn="ct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Training only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8428987" y="4169664"/>
            <a:ext cx="2036609" cy="713232"/>
          </a:xfrm>
          <a:prstGeom prst="rect">
            <a:avLst/>
          </a:prstGeom>
          <a:noFill/>
        </p:spPr>
        <p:txBody>
          <a:bodyPr wrap="square" rtlCol="0" anchor="ctr" lIns="0" tIns="0" rIns="0" bIns="0">
            <a:normAutofit/>
          </a:bodyPr>
          <a:lstStyle/>
          <a:p>
            <a:pPr algn="ct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No prognostic ocean / ice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0602757" y="4169664"/>
            <a:ext cx="1040298" cy="713232"/>
          </a:xfrm>
          <a:prstGeom prst="rect">
            <a:avLst/>
          </a:prstGeom>
          <a:noFill/>
        </p:spPr>
        <p:txBody>
          <a:bodyPr wrap="square" rtlCol="0" anchor="ctr" lIns="0" tIns="0" rIns="0" bIns="0">
            <a:normAutofit/>
          </a:bodyPr>
          <a:lstStyle/>
          <a:p>
            <a:pPr algn="ct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Native</a:t>
            </a:r>
          </a:p>
        </p:txBody>
      </p:sp>
      <p:sp>
        <p:nvSpPr>
          <p:cNvPr id="44" name="Rect 44"/>
          <p:cNvSpPr/>
          <p:nvPr/>
        </p:nvSpPr>
        <p:spPr>
          <a:xfrm>
            <a:off x="502920" y="4882896"/>
            <a:ext cx="11185855" cy="713232"/>
          </a:xfrm>
          <a:prstGeom prst="rect">
            <a:avLst/>
          </a:prstGeom>
          <a:solidFill>
            <a:srgbClr val="FDEADC"/>
          </a:solidFill>
          <a:ln>
            <a:noFill/>
          </a:ln>
        </p:spPr>
        <p:txBody>
          <a:bodyPr/>
          <a:lstStyle/>
          <a:p/>
        </p:txBody>
      </p:sp>
      <p:sp>
        <p:nvSpPr>
          <p:cNvPr id="45" name="TextBox 45"/>
          <p:cNvSpPr txBox="1"/>
          <p:nvPr/>
        </p:nvSpPr>
        <p:spPr>
          <a:xfrm>
            <a:off x="594360" y="4882896"/>
            <a:ext cx="1764888" cy="713232"/>
          </a:xfrm>
          <a:prstGeom prst="rect">
            <a:avLst/>
          </a:prstGeom>
          <a:noFill/>
        </p:spPr>
        <p:txBody>
          <a:bodyPr wrap="square" rtlCol="0" anchor="ctr" lIns="0" tIns="0" rIns="0" bIns="0">
            <a:normAutofit/>
          </a:bodyPr>
          <a:lstStyle/>
          <a:p>
            <a:pPr algn="ct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A3A47"/>
                </a:solidFill>
                <a:latin typeface="Calibri"/>
                <a:ea typeface="Calibri"/>
                <a:cs typeface="Calibri"/>
              </a:rPr>
              <a:t>legoESM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2496408" y="4882896"/>
            <a:ext cx="1583741" cy="713232"/>
          </a:xfrm>
          <a:prstGeom prst="rect">
            <a:avLst/>
          </a:prstGeom>
          <a:noFill/>
        </p:spPr>
        <p:txBody>
          <a:bodyPr wrap="square" rtlCol="0" anchor="ctr" lIns="0" tIns="0" rIns="0" bIns="0">
            <a:normAutofit/>
          </a:bodyPr>
          <a:lstStyle/>
          <a:p>
            <a:pPr algn="ct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JAX (single lang.)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4217309" y="4882896"/>
            <a:ext cx="2081896" cy="713232"/>
          </a:xfrm>
          <a:prstGeom prst="rect">
            <a:avLst/>
          </a:prstGeom>
          <a:noFill/>
        </p:spPr>
        <p:txBody>
          <a:bodyPr wrap="square" rtlCol="0" anchor="ctr" lIns="0" tIns="0" rIns="0" bIns="0">
            <a:normAutofit/>
          </a:bodyPr>
          <a:lstStyle/>
          <a:p>
            <a:pPr algn="ct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4 grids × {SW, hydro, NH, SFNO}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6436365" y="4882896"/>
            <a:ext cx="1855462" cy="713232"/>
          </a:xfrm>
          <a:prstGeom prst="rect">
            <a:avLst/>
          </a:prstGeom>
          <a:noFill/>
        </p:spPr>
        <p:txBody>
          <a:bodyPr wrap="square" rtlCol="0" anchor="ctr" lIns="0" tIns="0" rIns="0" bIns="0">
            <a:normAutofit/>
          </a:bodyPr>
          <a:lstStyle/>
          <a:p>
            <a:pPr algn="ct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End-to-end jax.grad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8428987" y="4882896"/>
            <a:ext cx="2036609" cy="713232"/>
          </a:xfrm>
          <a:prstGeom prst="rect">
            <a:avLst/>
          </a:prstGeom>
          <a:noFill/>
        </p:spPr>
        <p:txBody>
          <a:bodyPr wrap="square" rtlCol="0" anchor="ctr" lIns="0" tIns="0" rIns="0" bIns="0">
            <a:normAutofit/>
          </a:bodyPr>
          <a:lstStyle/>
          <a:p>
            <a:pPr algn="ct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Atm + ocean + land + ice + lake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0602757" y="4882896"/>
            <a:ext cx="1040298" cy="713232"/>
          </a:xfrm>
          <a:prstGeom prst="rect">
            <a:avLst/>
          </a:prstGeom>
          <a:noFill/>
        </p:spPr>
        <p:txBody>
          <a:bodyPr wrap="square" rtlCol="0" anchor="ctr" lIns="0" tIns="0" rIns="0" bIns="0">
            <a:normAutofit/>
          </a:bodyPr>
          <a:lstStyle/>
          <a:p>
            <a:pPr algn="ct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First-class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502920" y="5733288"/>
            <a:ext cx="11185855" cy="54864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legoESM is the only stack in this row that combines a full classical-physics + dynamical-core ladder with a prognostic ocean / ice / land and end-to-end differentiability.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ect 3"/>
          <p:cNvSpPr/>
          <p:nvPr/>
        </p:nvSpPr>
        <p:spPr>
          <a:xfrm>
            <a:off x="502920" y="274320"/>
            <a:ext cx="384048" cy="54864"/>
          </a:xfrm>
          <a:prstGeom prst="rect">
            <a:avLst/>
          </a:prstGeom>
          <a:solidFill>
            <a:srgbClr val="E36414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Rect 4"/>
          <p:cNvSpPr/>
          <p:nvPr/>
        </p:nvSpPr>
        <p:spPr>
          <a:xfrm>
            <a:off x="1005840" y="219456"/>
            <a:ext cx="1783080" cy="219456"/>
          </a:xfrm>
          <a:prstGeom prst="rect">
            <a:avLst/>
          </a:prstGeom>
          <a:solidFill>
            <a:srgbClr val="0F4C5C"/>
          </a:solidFill>
          <a:ln>
            <a:noFill/>
          </a:ln>
        </p:spPr>
        <p:txBody>
          <a:bodyPr wrap="square" rtlCol="0" anchor="ctr" lIns="18288" tIns="18288" rIns="18288" bIns="18288">
            <a:normAutofit/>
          </a:bodyPr>
          <a:lstStyle/>
          <a:p>
            <a:pPr algn="ct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ARCHITECTURE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02920" y="502920"/>
            <a:ext cx="11185855" cy="77724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0A3A47"/>
                </a:solidFill>
                <a:latin typeface="Georgia"/>
                <a:ea typeface="Georgia"/>
                <a:cs typeface="Georgia"/>
              </a:rPr>
              <a:t>High-level architecture</a:t>
            </a:r>
          </a:p>
        </p:txBody>
      </p:sp>
      <p:sp>
        <p:nvSpPr>
          <p:cNvPr id="6" name="Rect 6"/>
          <p:cNvSpPr/>
          <p:nvPr/>
        </p:nvSpPr>
        <p:spPr>
          <a:xfrm>
            <a:off x="502920" y="1280160"/>
            <a:ext cx="11185855" cy="10973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502920" y="6492240"/>
            <a:ext cx="6400800" cy="27432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900" i="1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legoESM  ·  a differentiable Earth System Model in JAX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317175" y="6492240"/>
            <a:ext cx="1371600" cy="27432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 algn="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6 / 30</a:t>
            </a:r>
          </a:p>
        </p:txBody>
      </p:sp>
      <p:sp>
        <p:nvSpPr>
          <p:cNvPr id="9" name="Rect 9"/>
          <p:cNvSpPr/>
          <p:nvPr/>
        </p:nvSpPr>
        <p:spPr>
          <a:xfrm>
            <a:off x="502920" y="3383280"/>
            <a:ext cx="11185855" cy="228600"/>
          </a:xfrm>
          <a:prstGeom prst="rect">
            <a:avLst/>
          </a:prstGeom>
          <a:solidFill>
            <a:srgbClr val="0F4C5C"/>
          </a:solidFill>
          <a:ln>
            <a:noFill/>
          </a:ln>
        </p:spPr>
        <p:txBody>
          <a:bodyPr wrap="square" rtlCol="0" anchor="ctr" lIns="0" tIns="0" rIns="0" bIns="0">
            <a:normAutofit/>
          </a:bodyPr>
          <a:lstStyle/>
          <a:p>
            <a:pPr algn="ct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ParallelRuntime   ·   compiled_segments (lax.scan)   ·   pytree state   ·   MPI custom_vjp halo + allreduce(SUM)</a:t>
            </a:r>
          </a:p>
        </p:txBody>
      </p:sp>
      <p:sp>
        <p:nvSpPr>
          <p:cNvPr id="10" name="Rect 10"/>
          <p:cNvSpPr/>
          <p:nvPr/>
        </p:nvSpPr>
        <p:spPr>
          <a:xfrm>
            <a:off x="685800" y="1554480"/>
            <a:ext cx="3560978" cy="1783080"/>
          </a:xfrm>
          <a:prstGeom prst="rect">
            <a:avLst/>
          </a:prstGeom>
          <a:solidFill>
            <a:srgbClr val="E0F2F1"/>
          </a:solidFill>
          <a:ln w="9525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11" name="TextBox 11"/>
          <p:cNvSpPr txBox="1"/>
          <p:nvPr/>
        </p:nvSpPr>
        <p:spPr>
          <a:xfrm>
            <a:off x="868680" y="1664208"/>
            <a:ext cx="3195218" cy="36576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0A3A47"/>
                </a:solidFill>
                <a:latin typeface="Georgia"/>
                <a:ea typeface="Georgia"/>
                <a:cs typeface="Georgia"/>
              </a:rPr>
              <a:t>Atmosphere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68680" y="2057400"/>
            <a:ext cx="3195218" cy="27432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E36414"/>
                </a:solidFill>
                <a:latin typeface="Consolas"/>
                <a:ea typeface="Consolas"/>
                <a:cs typeface="Consolas"/>
              </a:rPr>
              <a:t>atmosphere/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68680" y="2377440"/>
            <a:ext cx="3195218" cy="86868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SW · hydro · NH · SFNO   ·   radiation · convection · turbulence · clouds · microphysics · GWD</a:t>
            </a:r>
          </a:p>
        </p:txBody>
      </p:sp>
      <p:sp>
        <p:nvSpPr>
          <p:cNvPr id="14" name="Rect 14"/>
          <p:cNvSpPr/>
          <p:nvPr/>
        </p:nvSpPr>
        <p:spPr>
          <a:xfrm>
            <a:off x="4292498" y="1554480"/>
            <a:ext cx="3560978" cy="1783080"/>
          </a:xfrm>
          <a:prstGeom prst="rect">
            <a:avLst/>
          </a:prstGeom>
          <a:solidFill>
            <a:srgbClr val="DBEAFE"/>
          </a:solidFill>
          <a:ln w="9525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15" name="TextBox 15"/>
          <p:cNvSpPr txBox="1"/>
          <p:nvPr/>
        </p:nvSpPr>
        <p:spPr>
          <a:xfrm>
            <a:off x="4475378" y="1664208"/>
            <a:ext cx="3195218" cy="36576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0A3A47"/>
                </a:solidFill>
                <a:latin typeface="Georgia"/>
                <a:ea typeface="Georgia"/>
                <a:cs typeface="Georgia"/>
              </a:rPr>
              <a:t>Ocean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475378" y="2057400"/>
            <a:ext cx="3195218" cy="27432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E36414"/>
                </a:solidFill>
                <a:latin typeface="Consolas"/>
                <a:ea typeface="Consolas"/>
                <a:cs typeface="Consolas"/>
              </a:rPr>
              <a:t>ocean/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475378" y="2377440"/>
            <a:ext cx="3195218" cy="86868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PE on lat-lon C · cubed-sphere · MPAS · spectral   ·   KPP · GM-Redi · BGC · barotropic split</a:t>
            </a:r>
          </a:p>
        </p:txBody>
      </p:sp>
      <p:sp>
        <p:nvSpPr>
          <p:cNvPr id="18" name="Rect 18"/>
          <p:cNvSpPr/>
          <p:nvPr/>
        </p:nvSpPr>
        <p:spPr>
          <a:xfrm>
            <a:off x="7899197" y="1554480"/>
            <a:ext cx="3560978" cy="1783080"/>
          </a:xfrm>
          <a:prstGeom prst="rect">
            <a:avLst/>
          </a:prstGeom>
          <a:solidFill>
            <a:srgbClr val="ECF5DF"/>
          </a:solidFill>
          <a:ln w="9525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19" name="TextBox 19"/>
          <p:cNvSpPr txBox="1"/>
          <p:nvPr/>
        </p:nvSpPr>
        <p:spPr>
          <a:xfrm>
            <a:off x="8082077" y="1664208"/>
            <a:ext cx="3195218" cy="36576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0A3A47"/>
                </a:solidFill>
                <a:latin typeface="Georgia"/>
                <a:ea typeface="Georgia"/>
                <a:cs typeface="Georgia"/>
              </a:rPr>
              <a:t>Land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082077" y="2057400"/>
            <a:ext cx="3195218" cy="27432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E36414"/>
                </a:solidFill>
                <a:latin typeface="Consolas"/>
                <a:ea typeface="Consolas"/>
                <a:cs typeface="Consolas"/>
              </a:rPr>
              <a:t>land/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082077" y="2377440"/>
            <a:ext cx="3195218" cy="86868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slab · multilayer Richards (8L) · soil thermal · stomata · DALEC-990 carbon</a:t>
            </a:r>
          </a:p>
        </p:txBody>
      </p:sp>
      <p:sp>
        <p:nvSpPr>
          <p:cNvPr id="22" name="Rect 22"/>
          <p:cNvSpPr/>
          <p:nvPr/>
        </p:nvSpPr>
        <p:spPr>
          <a:xfrm>
            <a:off x="685800" y="3657600"/>
            <a:ext cx="3560978" cy="1783080"/>
          </a:xfrm>
          <a:prstGeom prst="rect">
            <a:avLst/>
          </a:prstGeom>
          <a:solidFill>
            <a:srgbClr val="E9EFF6"/>
          </a:solidFill>
          <a:ln w="9525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23" name="TextBox 23"/>
          <p:cNvSpPr txBox="1"/>
          <p:nvPr/>
        </p:nvSpPr>
        <p:spPr>
          <a:xfrm>
            <a:off x="868680" y="3767328"/>
            <a:ext cx="3195218" cy="36576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0A3A47"/>
                </a:solidFill>
                <a:latin typeface="Georgia"/>
                <a:ea typeface="Georgia"/>
                <a:cs typeface="Georgia"/>
              </a:rPr>
              <a:t>Sea ice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68680" y="4160520"/>
            <a:ext cx="3195218" cy="27432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E36414"/>
                </a:solidFill>
                <a:latin typeface="Consolas"/>
                <a:ea typeface="Consolas"/>
                <a:cs typeface="Consolas"/>
              </a:rPr>
              <a:t>ice/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68680" y="4480560"/>
            <a:ext cx="3195218" cy="86868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thermo · EVP / mEVP rheology · ITD (Lipscomb) · snow · brine · ridging · ponds</a:t>
            </a:r>
          </a:p>
        </p:txBody>
      </p:sp>
      <p:sp>
        <p:nvSpPr>
          <p:cNvPr id="26" name="Rect 26"/>
          <p:cNvSpPr/>
          <p:nvPr/>
        </p:nvSpPr>
        <p:spPr>
          <a:xfrm>
            <a:off x="4292498" y="3657600"/>
            <a:ext cx="3560978" cy="1783080"/>
          </a:xfrm>
          <a:prstGeom prst="rect">
            <a:avLst/>
          </a:prstGeom>
          <a:solidFill>
            <a:srgbClr val="FBE9DC"/>
          </a:solidFill>
          <a:ln w="9525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27" name="TextBox 27"/>
          <p:cNvSpPr txBox="1"/>
          <p:nvPr/>
        </p:nvSpPr>
        <p:spPr>
          <a:xfrm>
            <a:off x="4475378" y="3767328"/>
            <a:ext cx="3195218" cy="36576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0A3A47"/>
                </a:solidFill>
                <a:latin typeface="Georgia"/>
                <a:ea typeface="Georgia"/>
                <a:cs typeface="Georgia"/>
              </a:rPr>
              <a:t>Coupler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475378" y="4160520"/>
            <a:ext cx="3195218" cy="27432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E36414"/>
                </a:solidFill>
                <a:latin typeface="Consolas"/>
                <a:ea typeface="Consolas"/>
                <a:cs typeface="Consolas"/>
              </a:rPr>
              <a:t>coupler/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475378" y="4480560"/>
            <a:ext cx="3195218" cy="86868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tile-based (ocean / ice / land / lake)   ·   COARE 3.0 · L–Y bulk fluxes   ·   surface energy + accumulator</a:t>
            </a:r>
          </a:p>
        </p:txBody>
      </p:sp>
      <p:sp>
        <p:nvSpPr>
          <p:cNvPr id="30" name="Rect 30"/>
          <p:cNvSpPr/>
          <p:nvPr/>
        </p:nvSpPr>
        <p:spPr>
          <a:xfrm>
            <a:off x="7899197" y="3657600"/>
            <a:ext cx="3560978" cy="1783080"/>
          </a:xfrm>
          <a:prstGeom prst="rect">
            <a:avLst/>
          </a:prstGeom>
          <a:solidFill>
            <a:srgbClr val="ECE6F7"/>
          </a:solidFill>
          <a:ln w="9525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31" name="TextBox 31"/>
          <p:cNvSpPr txBox="1"/>
          <p:nvPr/>
        </p:nvSpPr>
        <p:spPr>
          <a:xfrm>
            <a:off x="8082077" y="3767328"/>
            <a:ext cx="3195218" cy="36576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0A3A47"/>
                </a:solidFill>
                <a:latin typeface="Georgia"/>
                <a:ea typeface="Georgia"/>
                <a:cs typeface="Georgia"/>
              </a:rPr>
              <a:t>DA · ML · training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082077" y="4160520"/>
            <a:ext cx="3195218" cy="27432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E36414"/>
                </a:solidFill>
                <a:latin typeface="Consolas"/>
                <a:ea typeface="Consolas"/>
                <a:cs typeface="Consolas"/>
              </a:rPr>
              <a:t>da/ · ml/ · training/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082077" y="4480560"/>
            <a:ext cx="3195218" cy="86868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incremental 4D-Var   ·   SFNO · NeuralGCM · S2S slab   ·   ERA5 → state · trainable physics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02920" y="5532120"/>
            <a:ext cx="11185855" cy="32004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 algn="ct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Every block ships its own configs and validation; cores, schemes and grids are independently swappable.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ect 3"/>
          <p:cNvSpPr/>
          <p:nvPr/>
        </p:nvSpPr>
        <p:spPr>
          <a:xfrm>
            <a:off x="502920" y="274320"/>
            <a:ext cx="384048" cy="54864"/>
          </a:xfrm>
          <a:prstGeom prst="rect">
            <a:avLst/>
          </a:prstGeom>
          <a:solidFill>
            <a:srgbClr val="E36414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Rect 4"/>
          <p:cNvSpPr/>
          <p:nvPr/>
        </p:nvSpPr>
        <p:spPr>
          <a:xfrm>
            <a:off x="1005840" y="219456"/>
            <a:ext cx="1783080" cy="219456"/>
          </a:xfrm>
          <a:prstGeom prst="rect">
            <a:avLst/>
          </a:prstGeom>
          <a:solidFill>
            <a:srgbClr val="0F4C5C"/>
          </a:solidFill>
          <a:ln>
            <a:noFill/>
          </a:ln>
        </p:spPr>
        <p:txBody>
          <a:bodyPr wrap="square" rtlCol="0" anchor="ctr" lIns="18288" tIns="18288" rIns="18288" bIns="18288">
            <a:normAutofit/>
          </a:bodyPr>
          <a:lstStyle/>
          <a:p>
            <a:pPr algn="ct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FOUNDATIONS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02920" y="502920"/>
            <a:ext cx="11185855" cy="77724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0A3A47"/>
                </a:solidFill>
                <a:latin typeface="Georgia"/>
                <a:ea typeface="Georgia"/>
                <a:cs typeface="Georgia"/>
              </a:rPr>
              <a:t>JAX foundations: state · scan · autodiff</a:t>
            </a:r>
          </a:p>
        </p:txBody>
      </p:sp>
      <p:sp>
        <p:nvSpPr>
          <p:cNvPr id="6" name="Rect 6"/>
          <p:cNvSpPr/>
          <p:nvPr/>
        </p:nvSpPr>
        <p:spPr>
          <a:xfrm>
            <a:off x="502920" y="1280160"/>
            <a:ext cx="11185855" cy="10973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502920" y="6492240"/>
            <a:ext cx="6400800" cy="27432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900" i="1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legoESM  ·  a differentiable Earth System Model in JAX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317175" y="6492240"/>
            <a:ext cx="1371600" cy="27432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 algn="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7 / 30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02920" y="1554480"/>
            <a:ext cx="5852160" cy="36576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A3A47"/>
                </a:solidFill>
                <a:latin typeface="Georgia"/>
                <a:ea typeface="Georgia"/>
                <a:cs typeface="Georgia"/>
              </a:rPr>
              <a:t>Model as a pure function over pytrees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02920" y="1965960"/>
            <a:ext cx="5852160" cy="420624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E36414"/>
                </a:solidFill>
                <a:latin typeface="Calibri"/>
                <a:ea typeface="Calibri"/>
                <a:cs typeface="Calibri"/>
              </a:rPr>
              <a:t>▸  </a:t>
            </a:r>
            <a:r>
              <a:rPr lang="en-US" sz="135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State as NamedTuple pytrees: SegmentCarry, OceanState, LatLonCGridOceanState, Field…</a:t>
            </a:r>
          </a:p>
          <a:p>
            <a:pPr>
              <a:lnSpc>
                <a:spcPct val="1220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E36414"/>
                </a:solidFill>
                <a:latin typeface="Calibri"/>
                <a:ea typeface="Calibri"/>
                <a:cs typeface="Calibri"/>
              </a:rPr>
              <a:t>▸  </a:t>
            </a:r>
            <a:r>
              <a:rPr lang="en-US" sz="135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Time integration is jax.lax.scan over a single-step function — no Python loops on traced values.</a:t>
            </a:r>
          </a:p>
          <a:p>
            <a:pPr>
              <a:lnSpc>
                <a:spcPct val="1220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E36414"/>
                </a:solidFill>
                <a:latin typeface="Calibri"/>
                <a:ea typeface="Calibri"/>
                <a:cs typeface="Calibri"/>
              </a:rPr>
              <a:t>▸  </a:t>
            </a:r>
            <a:r>
              <a:rPr lang="en-US" sz="135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Hot loop compiled in segments of length GCD(diagnostic interval, checkpoint interval).</a:t>
            </a:r>
          </a:p>
          <a:p>
            <a:pPr>
              <a:lnSpc>
                <a:spcPct val="1220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E36414"/>
                </a:solidFill>
                <a:latin typeface="Calibri"/>
                <a:ea typeface="Calibri"/>
                <a:cs typeface="Calibri"/>
              </a:rPr>
              <a:t>▸  </a:t>
            </a:r>
            <a:r>
              <a:rPr lang="en-US" sz="135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External forcings (SST, solar, ozone) passed as explicit traced args (SegmentForcing) so the kernel is reused, not retraced.</a:t>
            </a:r>
          </a:p>
          <a:p>
            <a:pPr>
              <a:lnSpc>
                <a:spcPct val="1220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E36414"/>
                </a:solidFill>
                <a:latin typeface="Calibri"/>
                <a:ea typeface="Calibri"/>
                <a:cs typeface="Calibri"/>
              </a:rPr>
              <a:t>▸  </a:t>
            </a:r>
            <a:r>
              <a:rPr lang="en-US" sz="135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Each segment has a JIT (donate_argnums) variant for production and a .raw non-donating variant for eqx.filter_value_and_grad.</a:t>
            </a:r>
          </a:p>
        </p:txBody>
      </p:sp>
      <p:sp>
        <p:nvSpPr>
          <p:cNvPr id="11" name="Rect 11"/>
          <p:cNvSpPr/>
          <p:nvPr/>
        </p:nvSpPr>
        <p:spPr>
          <a:xfrm>
            <a:off x="6720840" y="1554480"/>
            <a:ext cx="4967935" cy="4526280"/>
          </a:xfrm>
          <a:prstGeom prst="rect">
            <a:avLst/>
          </a:prstGeom>
          <a:solidFill>
            <a:srgbClr val="0A3A4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extBox 12"/>
          <p:cNvSpPr txBox="1"/>
          <p:nvPr/>
        </p:nvSpPr>
        <p:spPr>
          <a:xfrm>
            <a:off x="7040880" y="1691640"/>
            <a:ext cx="4327855" cy="36576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CBD5E1"/>
                </a:solidFill>
                <a:latin typeface="Georgia"/>
                <a:ea typeface="Georgia"/>
                <a:cs typeface="Georgia"/>
              </a:rPr>
              <a:t>training step  (sketch)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040880" y="2103120"/>
            <a:ext cx="4327855" cy="402336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25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def loss_fn(theta, state0, forcing):</a:t>
            </a:r>
          </a:p>
          <a:p>
            <a:pPr>
              <a:lnSpc>
                <a:spcPct val="125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final = run_segment.raw(</a:t>
            </a:r>
          </a:p>
          <a:p>
            <a:pPr>
              <a:lnSpc>
                <a:spcPct val="125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theta, state0, forcing,</a:t>
            </a:r>
          </a:p>
          <a:p>
            <a:pPr>
              <a:lnSpc>
                <a:spcPct val="125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n_steps=N, dt=dt)</a:t>
            </a:r>
          </a:p>
          <a:p>
            <a:pPr>
              <a:lnSpc>
                <a:spcPct val="125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return area_weighted_mse(</a:t>
            </a:r>
          </a:p>
          <a:p>
            <a:pPr>
              <a:lnSpc>
                <a:spcPct val="125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final.state, target)</a:t>
            </a:r>
          </a:p>
          <a:p>
            <a:pPr>
              <a:lnSpc>
                <a:spcPct val="125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>
              <a:lnSpc>
                <a:spcPct val="125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grads = eqx.filter_value_and_grad(</a:t>
            </a:r>
          </a:p>
          <a:p>
            <a:pPr>
              <a:lnSpc>
                <a:spcPct val="125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loss_fn)(theta, state0, forcing)</a:t>
            </a:r>
          </a:p>
          <a:p>
            <a:pPr>
              <a:lnSpc>
                <a:spcPct val="125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>
              <a:lnSpc>
                <a:spcPct val="125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# end-to-end jax.grad — through</a:t>
            </a:r>
          </a:p>
          <a:p>
            <a:pPr>
              <a:lnSpc>
                <a:spcPct val="125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# dycore + physics + halo + reductions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ect 3"/>
          <p:cNvSpPr/>
          <p:nvPr/>
        </p:nvSpPr>
        <p:spPr>
          <a:xfrm>
            <a:off x="502920" y="274320"/>
            <a:ext cx="384048" cy="54864"/>
          </a:xfrm>
          <a:prstGeom prst="rect">
            <a:avLst/>
          </a:prstGeom>
          <a:solidFill>
            <a:srgbClr val="E36414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Rect 4"/>
          <p:cNvSpPr/>
          <p:nvPr/>
        </p:nvSpPr>
        <p:spPr>
          <a:xfrm>
            <a:off x="1005840" y="219456"/>
            <a:ext cx="1783080" cy="219456"/>
          </a:xfrm>
          <a:prstGeom prst="rect">
            <a:avLst/>
          </a:prstGeom>
          <a:solidFill>
            <a:srgbClr val="0F4C5C"/>
          </a:solidFill>
          <a:ln>
            <a:noFill/>
          </a:ln>
        </p:spPr>
        <p:txBody>
          <a:bodyPr wrap="square" rtlCol="0" anchor="ctr" lIns="18288" tIns="18288" rIns="18288" bIns="18288">
            <a:normAutofit/>
          </a:bodyPr>
          <a:lstStyle/>
          <a:p>
            <a:pPr algn="ct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DIFFERENTIABILITY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02920" y="502920"/>
            <a:ext cx="11185855" cy="77724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0A3A47"/>
                </a:solidFill>
                <a:latin typeface="Georgia"/>
                <a:ea typeface="Georgia"/>
                <a:cs typeface="Georgia"/>
              </a:rPr>
              <a:t>End-to-end differentiability through MPI</a:t>
            </a:r>
          </a:p>
        </p:txBody>
      </p:sp>
      <p:sp>
        <p:nvSpPr>
          <p:cNvPr id="6" name="Rect 6"/>
          <p:cNvSpPr/>
          <p:nvPr/>
        </p:nvSpPr>
        <p:spPr>
          <a:xfrm>
            <a:off x="502920" y="1280160"/>
            <a:ext cx="11185855" cy="10973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502920" y="6492240"/>
            <a:ext cx="6400800" cy="27432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900" i="1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legoESM  ·  a differentiable Earth System Model in JAX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317175" y="6492240"/>
            <a:ext cx="1371600" cy="27432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 algn="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8 / 30</a:t>
            </a:r>
          </a:p>
        </p:txBody>
      </p:sp>
      <p:sp>
        <p:nvSpPr>
          <p:cNvPr id="9" name="Rect 9"/>
          <p:cNvSpPr/>
          <p:nvPr/>
        </p:nvSpPr>
        <p:spPr>
          <a:xfrm>
            <a:off x="502920" y="1645920"/>
            <a:ext cx="1711909" cy="868680"/>
          </a:xfrm>
          <a:prstGeom prst="rect">
            <a:avLst/>
          </a:prstGeom>
          <a:solidFill>
            <a:srgbClr val="0F4C5C"/>
          </a:solidFill>
          <a:ln>
            <a:noFill/>
          </a:ln>
        </p:spPr>
        <p:txBody>
          <a:bodyPr wrap="square" rtlCol="0" anchor="ctr" lIns="45720" tIns="45720" rIns="45720" bIns="45720">
            <a:norm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state₀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169109" y="1737360"/>
            <a:ext cx="274320" cy="32004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 algn="ct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169109" y="2103120"/>
            <a:ext cx="274320" cy="32004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 algn="ct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E36414"/>
                </a:solidFill>
                <a:latin typeface="Calibri"/>
                <a:ea typeface="Calibri"/>
                <a:cs typeface="Calibri"/>
              </a:rPr>
              <a:t>←</a:t>
            </a:r>
          </a:p>
        </p:txBody>
      </p:sp>
      <p:sp>
        <p:nvSpPr>
          <p:cNvPr id="12" name="Rect 12"/>
          <p:cNvSpPr/>
          <p:nvPr/>
        </p:nvSpPr>
        <p:spPr>
          <a:xfrm>
            <a:off x="2397709" y="1645920"/>
            <a:ext cx="1711909" cy="868680"/>
          </a:xfrm>
          <a:prstGeom prst="rect">
            <a:avLst/>
          </a:prstGeom>
          <a:solidFill>
            <a:srgbClr val="E36414"/>
          </a:solidFill>
          <a:ln>
            <a:noFill/>
          </a:ln>
        </p:spPr>
        <p:txBody>
          <a:bodyPr wrap="square" rtlCol="0" anchor="ctr" lIns="45720" tIns="45720" rIns="45720" bIns="45720">
            <a:norm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halo exchange
(MPI)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063898" y="1737360"/>
            <a:ext cx="274320" cy="32004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 algn="ct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063898" y="2103120"/>
            <a:ext cx="274320" cy="32004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 algn="ct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E36414"/>
                </a:solidFill>
                <a:latin typeface="Calibri"/>
                <a:ea typeface="Calibri"/>
                <a:cs typeface="Calibri"/>
              </a:rPr>
              <a:t>←</a:t>
            </a:r>
          </a:p>
        </p:txBody>
      </p:sp>
      <p:sp>
        <p:nvSpPr>
          <p:cNvPr id="15" name="Rect 15"/>
          <p:cNvSpPr/>
          <p:nvPr/>
        </p:nvSpPr>
        <p:spPr>
          <a:xfrm>
            <a:off x="4292498" y="1645920"/>
            <a:ext cx="1711909" cy="868680"/>
          </a:xfrm>
          <a:prstGeom prst="rect">
            <a:avLst/>
          </a:prstGeom>
          <a:solidFill>
            <a:srgbClr val="0F4C5C"/>
          </a:solidFill>
          <a:ln>
            <a:noFill/>
          </a:ln>
        </p:spPr>
        <p:txBody>
          <a:bodyPr wrap="square" rtlCol="0" anchor="ctr" lIns="45720" tIns="45720" rIns="45720" bIns="45720">
            <a:norm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dynamics
(lax.scan)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958688" y="1737360"/>
            <a:ext cx="274320" cy="32004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 algn="ct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958688" y="2103120"/>
            <a:ext cx="274320" cy="32004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 algn="ct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E36414"/>
                </a:solidFill>
                <a:latin typeface="Calibri"/>
                <a:ea typeface="Calibri"/>
                <a:cs typeface="Calibri"/>
              </a:rPr>
              <a:t>←</a:t>
            </a:r>
          </a:p>
        </p:txBody>
      </p:sp>
      <p:sp>
        <p:nvSpPr>
          <p:cNvPr id="18" name="Rect 18"/>
          <p:cNvSpPr/>
          <p:nvPr/>
        </p:nvSpPr>
        <p:spPr>
          <a:xfrm>
            <a:off x="6187288" y="1645920"/>
            <a:ext cx="1711909" cy="868680"/>
          </a:xfrm>
          <a:prstGeom prst="rect">
            <a:avLst/>
          </a:prstGeom>
          <a:solidFill>
            <a:srgbClr val="0F4C5C"/>
          </a:solidFill>
          <a:ln>
            <a:noFill/>
          </a:ln>
        </p:spPr>
        <p:txBody>
          <a:bodyPr wrap="square" rtlCol="0" anchor="ctr" lIns="45720" tIns="45720" rIns="45720" bIns="45720">
            <a:norm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physics
(scan)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853477" y="1737360"/>
            <a:ext cx="274320" cy="32004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 algn="ct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853477" y="2103120"/>
            <a:ext cx="274320" cy="32004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 algn="ct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E36414"/>
                </a:solidFill>
                <a:latin typeface="Calibri"/>
                <a:ea typeface="Calibri"/>
                <a:cs typeface="Calibri"/>
              </a:rPr>
              <a:t>←</a:t>
            </a:r>
          </a:p>
        </p:txBody>
      </p:sp>
      <p:sp>
        <p:nvSpPr>
          <p:cNvPr id="21" name="Rect 21"/>
          <p:cNvSpPr/>
          <p:nvPr/>
        </p:nvSpPr>
        <p:spPr>
          <a:xfrm>
            <a:off x="8082077" y="1645920"/>
            <a:ext cx="1711909" cy="868680"/>
          </a:xfrm>
          <a:prstGeom prst="rect">
            <a:avLst/>
          </a:prstGeom>
          <a:solidFill>
            <a:srgbClr val="E36414"/>
          </a:solidFill>
          <a:ln>
            <a:noFill/>
          </a:ln>
        </p:spPr>
        <p:txBody>
          <a:bodyPr wrap="square" rtlCol="0" anchor="ctr" lIns="45720" tIns="45720" rIns="45720" bIns="45720">
            <a:norm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global sum
(allreduce)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748266" y="1737360"/>
            <a:ext cx="274320" cy="32004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 algn="ct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748266" y="2103120"/>
            <a:ext cx="274320" cy="32004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 algn="ct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E36414"/>
                </a:solidFill>
                <a:latin typeface="Calibri"/>
                <a:ea typeface="Calibri"/>
                <a:cs typeface="Calibri"/>
              </a:rPr>
              <a:t>←</a:t>
            </a:r>
          </a:p>
        </p:txBody>
      </p:sp>
      <p:sp>
        <p:nvSpPr>
          <p:cNvPr id="24" name="Rect 24"/>
          <p:cNvSpPr/>
          <p:nvPr/>
        </p:nvSpPr>
        <p:spPr>
          <a:xfrm>
            <a:off x="9976866" y="1645920"/>
            <a:ext cx="1711909" cy="868680"/>
          </a:xfrm>
          <a:prstGeom prst="rect">
            <a:avLst/>
          </a:prstGeom>
          <a:solidFill>
            <a:srgbClr val="0F4C5C"/>
          </a:solidFill>
          <a:ln>
            <a:noFill/>
          </a:ln>
        </p:spPr>
        <p:txBody>
          <a:bodyPr wrap="square" rtlCol="0" anchor="ctr" lIns="45720" tIns="45720" rIns="45720" bIns="45720">
            <a:norm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loss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02920" y="2606040"/>
            <a:ext cx="5486400" cy="27432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→  primal trace          </a:t>
            </a:r>
            <a:r>
              <a:rPr lang="en-US" sz="1200" b="1" dirty="0">
                <a:solidFill>
                  <a:srgbClr val="E36414"/>
                </a:solidFill>
                <a:latin typeface="Calibri"/>
                <a:ea typeface="Calibri"/>
                <a:cs typeface="Calibri"/>
              </a:rPr>
              <a:t>←  cotangent (jax.grad)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02920" y="3017520"/>
            <a:ext cx="11185855" cy="36576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A3A47"/>
                </a:solidFill>
                <a:latin typeface="Georgia"/>
                <a:ea typeface="Georgia"/>
                <a:cs typeface="Georgia"/>
              </a:rPr>
              <a:t>What's non-trivial in this picture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02920" y="3429000"/>
            <a:ext cx="11185855" cy="274320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E36414"/>
                </a:solidFill>
                <a:latin typeface="Calibri"/>
                <a:ea typeface="Calibri"/>
                <a:cs typeface="Calibri"/>
              </a:rPr>
              <a:t>▸  </a:t>
            </a:r>
            <a:r>
              <a:rPr lang="en-US" sz="130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MPI halo exchange has no native VJP. We wrap mpi4jax.sendrecv in a custom_vjp whose backward swaps source / dest endpoints — cotangents flow back to the sender (parallel/halo_exchange.py).</a:t>
            </a:r>
          </a:p>
          <a:p>
            <a:pPr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E36414"/>
                </a:solidFill>
                <a:latin typeface="Calibri"/>
                <a:ea typeface="Calibri"/>
                <a:cs typeface="Calibri"/>
              </a:rPr>
              <a:t>▸  </a:t>
            </a:r>
            <a:r>
              <a:rPr lang="en-US" sz="130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Only allreduce(SUM) is AD-safe among reductions. global_max / global_min stay diagnostic-only; the differentiable path uses sums and softmax surrogates.</a:t>
            </a:r>
          </a:p>
          <a:p>
            <a:pPr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E36414"/>
                </a:solidFill>
                <a:latin typeface="Calibri"/>
                <a:ea typeface="Calibri"/>
                <a:cs typeface="Calibri"/>
              </a:rPr>
              <a:t>▸  </a:t>
            </a:r>
            <a:r>
              <a:rPr lang="en-US" sz="130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Mass / moisture / energy fixers are written as projections — gradients flow through the global reductions used to compute the correction.</a:t>
            </a:r>
          </a:p>
          <a:p>
            <a:pPr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E36414"/>
                </a:solidFill>
                <a:latin typeface="Calibri"/>
                <a:ea typeface="Calibri"/>
                <a:cs typeface="Calibri"/>
              </a:rPr>
              <a:t>▸  </a:t>
            </a:r>
            <a:r>
              <a:rPr lang="en-US" sz="130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JIT donate_argnums conflicts with reverse-mode AD; the training path uses non-donating .raw variants of compiled segments.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ect 3"/>
          <p:cNvSpPr/>
          <p:nvPr/>
        </p:nvSpPr>
        <p:spPr>
          <a:xfrm>
            <a:off x="502920" y="274320"/>
            <a:ext cx="384048" cy="54864"/>
          </a:xfrm>
          <a:prstGeom prst="rect">
            <a:avLst/>
          </a:prstGeom>
          <a:solidFill>
            <a:srgbClr val="E36414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Rect 4"/>
          <p:cNvSpPr/>
          <p:nvPr/>
        </p:nvSpPr>
        <p:spPr>
          <a:xfrm>
            <a:off x="1005840" y="219456"/>
            <a:ext cx="1783080" cy="219456"/>
          </a:xfrm>
          <a:prstGeom prst="rect">
            <a:avLst/>
          </a:prstGeom>
          <a:solidFill>
            <a:srgbClr val="0F4C5C"/>
          </a:solidFill>
          <a:ln>
            <a:noFill/>
          </a:ln>
        </p:spPr>
        <p:txBody>
          <a:bodyPr wrap="square" rtlCol="0" anchor="ctr" lIns="18288" tIns="18288" rIns="18288" bIns="18288">
            <a:normAutofit/>
          </a:bodyPr>
          <a:lstStyle/>
          <a:p>
            <a:pPr algn="ct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CONSERVATION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02920" y="502920"/>
            <a:ext cx="11185855" cy="77724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0A3A47"/>
                </a:solidFill>
                <a:latin typeface="Georgia"/>
                <a:ea typeface="Georgia"/>
                <a:cs typeface="Georgia"/>
              </a:rPr>
              <a:t>Conservation as a hard constraint</a:t>
            </a:r>
          </a:p>
        </p:txBody>
      </p:sp>
      <p:sp>
        <p:nvSpPr>
          <p:cNvPr id="6" name="Rect 6"/>
          <p:cNvSpPr/>
          <p:nvPr/>
        </p:nvSpPr>
        <p:spPr>
          <a:xfrm>
            <a:off x="502920" y="1280160"/>
            <a:ext cx="11185855" cy="10973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502920" y="6492240"/>
            <a:ext cx="6400800" cy="27432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900" i="1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legoESM  ·  a differentiable Earth System Model in JAX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317175" y="6492240"/>
            <a:ext cx="1371600" cy="27432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 algn="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9 / 30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02920" y="1554480"/>
            <a:ext cx="5852160" cy="36576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A3A47"/>
                </a:solidFill>
                <a:latin typeface="Georgia"/>
                <a:ea typeface="Georgia"/>
                <a:cs typeface="Georgia"/>
              </a:rPr>
              <a:t>Built into the time integrator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02920" y="1965960"/>
            <a:ext cx="5852160" cy="411480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E36414"/>
                </a:solidFill>
                <a:latin typeface="Calibri"/>
                <a:ea typeface="Calibri"/>
                <a:cs typeface="Calibri"/>
              </a:rPr>
              <a:t>▸  </a:t>
            </a:r>
            <a:r>
              <a:rPr lang="en-US" sz="135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Mass exactly conserved by construction (target-anchored fixer in SegmentCarry).</a:t>
            </a:r>
          </a:p>
          <a:p>
            <a:pPr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E36414"/>
                </a:solidFill>
                <a:latin typeface="Calibri"/>
                <a:ea typeface="Calibri"/>
                <a:cs typeface="Calibri"/>
              </a:rPr>
              <a:t>▸  </a:t>
            </a:r>
            <a:r>
              <a:rPr lang="en-US" sz="135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Moisture conserved via fix_moisture + zero_mean_tendency, with gradient-safe global means.</a:t>
            </a:r>
          </a:p>
          <a:p>
            <a:pPr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E36414"/>
                </a:solidFill>
                <a:latin typeface="Calibri"/>
                <a:ea typeface="Calibri"/>
                <a:cs typeface="Calibri"/>
              </a:rPr>
              <a:t>▸  </a:t>
            </a:r>
            <a:r>
              <a:rPr lang="en-US" sz="135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Energy budget diagnostics (column DSE / MSE / TOA-SFC residual) — never just hidden clipping.</a:t>
            </a:r>
          </a:p>
          <a:p>
            <a:pPr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E36414"/>
                </a:solidFill>
                <a:latin typeface="Calibri"/>
                <a:ea typeface="Calibri"/>
                <a:cs typeface="Calibri"/>
              </a:rPr>
              <a:t>▸  </a:t>
            </a:r>
            <a:r>
              <a:rPr lang="en-US" sz="135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Tracer monotonicity preserved by PPM transport with positive-definite limiter.</a:t>
            </a:r>
          </a:p>
          <a:p>
            <a:pPr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E36414"/>
                </a:solidFill>
                <a:latin typeface="Calibri"/>
                <a:ea typeface="Calibri"/>
                <a:cs typeface="Calibri"/>
              </a:rPr>
              <a:t>▸  </a:t>
            </a:r>
            <a:r>
              <a:rPr lang="en-US" sz="135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ML cores get the same treatment: conservation correctors (dry mass, moisture, ocean volume / heat / salt) act as differentiable projections.</a:t>
            </a:r>
          </a:p>
        </p:txBody>
      </p:sp>
      <p:sp>
        <p:nvSpPr>
          <p:cNvPr id="11" name="Rect 11"/>
          <p:cNvSpPr/>
          <p:nvPr/>
        </p:nvSpPr>
        <p:spPr>
          <a:xfrm>
            <a:off x="6720840" y="1554480"/>
            <a:ext cx="4967935" cy="452628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12" name="TextBox 12"/>
          <p:cNvSpPr txBox="1"/>
          <p:nvPr/>
        </p:nvSpPr>
        <p:spPr>
          <a:xfrm>
            <a:off x="6949440" y="1691640"/>
            <a:ext cx="4510735" cy="36576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E36414"/>
                </a:solidFill>
                <a:latin typeface="Georgia"/>
                <a:ea typeface="Georgia"/>
                <a:cs typeface="Georgia"/>
              </a:rPr>
              <a:t>Diagnostics shipped in diagnostics/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995160" y="2148840"/>
            <a:ext cx="2286000" cy="27432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A3A47"/>
                </a:solidFill>
                <a:latin typeface="Consolas"/>
                <a:ea typeface="Consolas"/>
                <a:cs typeface="Consolas"/>
              </a:rPr>
              <a:t>energy_budget.py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326880" y="2148840"/>
            <a:ext cx="2224735" cy="27432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EnergyBudget, column DSE / MSE, TOA &amp; SFC net radiation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995160" y="2651760"/>
            <a:ext cx="2286000" cy="27432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A3A47"/>
                </a:solidFill>
                <a:latin typeface="Consolas"/>
                <a:ea typeface="Consolas"/>
                <a:cs typeface="Consolas"/>
              </a:rPr>
              <a:t>total_energy_pe.py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326880" y="2651760"/>
            <a:ext cx="2224735" cy="27432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Hydrostatic total energy, te_correction, te_drift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995160" y="3154680"/>
            <a:ext cx="2286000" cy="27432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A3A47"/>
                </a:solidFill>
                <a:latin typeface="Consolas"/>
                <a:ea typeface="Consolas"/>
                <a:cs typeface="Consolas"/>
              </a:rPr>
              <a:t>angular_momentum.py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326880" y="3154680"/>
            <a:ext cx="2224735" cy="27432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Atmospheric angular momentum + corrections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995160" y="3657600"/>
            <a:ext cx="2286000" cy="27432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A3A47"/>
                </a:solidFill>
                <a:latin typeface="Consolas"/>
                <a:ea typeface="Consolas"/>
                <a:cs typeface="Consolas"/>
              </a:rPr>
              <a:t>column_integrals.py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326880" y="3657600"/>
            <a:ext cx="2224735" cy="27432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column_water_vapor, mass-weighted means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995160" y="4160520"/>
            <a:ext cx="2286000" cy="27432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A3A47"/>
                </a:solidFill>
                <a:latin typeface="Consolas"/>
                <a:ea typeface="Consolas"/>
                <a:cs typeface="Consolas"/>
              </a:rPr>
              <a:t>conservation_drift.py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326880" y="4160520"/>
            <a:ext cx="2224735" cy="27432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Relative-drift series + tolerance gating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995160" y="4663440"/>
            <a:ext cx="2286000" cy="27432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A3A47"/>
                </a:solidFill>
                <a:latin typeface="Consolas"/>
                <a:ea typeface="Consolas"/>
                <a:cs typeface="Consolas"/>
              </a:rPr>
              <a:t>precision_drift.py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326880" y="4663440"/>
            <a:ext cx="2224735" cy="27432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Tracer negativity + state diff tools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3A47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731520" y="1371600"/>
            <a:ext cx="3657600" cy="228600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8000" b="1" dirty="0">
                <a:solidFill>
                  <a:srgbClr val="E36414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4" name="Rect 4"/>
          <p:cNvSpPr/>
          <p:nvPr/>
        </p:nvSpPr>
        <p:spPr>
          <a:xfrm>
            <a:off x="4572000" y="1920240"/>
            <a:ext cx="36576" cy="2377440"/>
          </a:xfrm>
          <a:prstGeom prst="rect">
            <a:avLst/>
          </a:prstGeom>
          <a:solidFill>
            <a:srgbClr val="E36414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extBox 5"/>
          <p:cNvSpPr txBox="1"/>
          <p:nvPr/>
        </p:nvSpPr>
        <p:spPr>
          <a:xfrm>
            <a:off x="4937760" y="1828800"/>
            <a:ext cx="6858000" cy="109728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4400" b="1" dirty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Modularity across Earth components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937760" y="2926080"/>
            <a:ext cx="6858000" cy="228600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1800" dirty="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Every Earth-system block has its own swappable cores and physics schemes — same interfaces, different numerics, from the simplest aquaplanet to coupled CMIP-style runs.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02920" y="6400800"/>
            <a:ext cx="7315200" cy="27432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000" i="1" dirty="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legoESM  ·  Pierre Gentine et 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ect 3"/>
          <p:cNvSpPr/>
          <p:nvPr/>
        </p:nvSpPr>
        <p:spPr>
          <a:xfrm>
            <a:off x="502920" y="274320"/>
            <a:ext cx="384048" cy="54864"/>
          </a:xfrm>
          <a:prstGeom prst="rect">
            <a:avLst/>
          </a:prstGeom>
          <a:solidFill>
            <a:srgbClr val="E36414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Rect 4"/>
          <p:cNvSpPr/>
          <p:nvPr/>
        </p:nvSpPr>
        <p:spPr>
          <a:xfrm>
            <a:off x="1005840" y="219456"/>
            <a:ext cx="1783080" cy="219456"/>
          </a:xfrm>
          <a:prstGeom prst="rect">
            <a:avLst/>
          </a:prstGeom>
          <a:solidFill>
            <a:srgbClr val="0F4C5C"/>
          </a:solidFill>
          <a:ln>
            <a:noFill/>
          </a:ln>
        </p:spPr>
        <p:txBody>
          <a:bodyPr wrap="square" rtlCol="0" anchor="ctr" lIns="18288" tIns="18288" rIns="18288" bIns="18288">
            <a:normAutofit/>
          </a:bodyPr>
          <a:lstStyle/>
          <a:p>
            <a:pPr algn="ct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MODULARITY · ATM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02920" y="502920"/>
            <a:ext cx="11185855" cy="77724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0A3A47"/>
                </a:solidFill>
                <a:latin typeface="Georgia"/>
                <a:ea typeface="Georgia"/>
                <a:cs typeface="Georgia"/>
              </a:rPr>
              <a:t>Atmosphere — dynamical cores</a:t>
            </a:r>
          </a:p>
        </p:txBody>
      </p:sp>
      <p:sp>
        <p:nvSpPr>
          <p:cNvPr id="6" name="Rect 6"/>
          <p:cNvSpPr/>
          <p:nvPr/>
        </p:nvSpPr>
        <p:spPr>
          <a:xfrm>
            <a:off x="502920" y="1280160"/>
            <a:ext cx="11185855" cy="10973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502920" y="6492240"/>
            <a:ext cx="6400800" cy="27432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900" i="1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legoESM  ·  a differentiable Earth System Model in JAX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317175" y="6492240"/>
            <a:ext cx="1371600" cy="27432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 algn="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11 / 30</a:t>
            </a:r>
          </a:p>
        </p:txBody>
      </p:sp>
      <p:sp>
        <p:nvSpPr>
          <p:cNvPr id="9" name="Rect 9"/>
          <p:cNvSpPr/>
          <p:nvPr/>
        </p:nvSpPr>
        <p:spPr>
          <a:xfrm>
            <a:off x="502920" y="1691640"/>
            <a:ext cx="2103120" cy="411480"/>
          </a:xfrm>
          <a:prstGeom prst="rect">
            <a:avLst/>
          </a:prstGeom>
          <a:solidFill>
            <a:srgbClr val="0F4C5C"/>
          </a:solidFill>
          <a:ln>
            <a:noFill/>
          </a:ln>
        </p:spPr>
        <p:txBody>
          <a:bodyPr wrap="square" rtlCol="0" anchor="ctr" lIns="0" tIns="0" rIns="0" bIns="0">
            <a:normAutofit/>
          </a:bodyPr>
          <a:lstStyle/>
          <a:p>
            <a:pPr algn="ct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0" name="Rect 10"/>
          <p:cNvSpPr/>
          <p:nvPr/>
        </p:nvSpPr>
        <p:spPr>
          <a:xfrm>
            <a:off x="2606040" y="1691640"/>
            <a:ext cx="2270684" cy="411480"/>
          </a:xfrm>
          <a:prstGeom prst="rect">
            <a:avLst/>
          </a:prstGeom>
          <a:solidFill>
            <a:srgbClr val="0F4C5C"/>
          </a:solidFill>
          <a:ln>
            <a:noFill/>
          </a:ln>
        </p:spPr>
        <p:txBody>
          <a:bodyPr wrap="square" rtlCol="0" anchor="ctr" lIns="0" tIns="0" rIns="0" bIns="0">
            <a:normAutofit/>
          </a:bodyPr>
          <a:lstStyle/>
          <a:p>
            <a:pPr algn="ct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Lat-lon C-grid</a:t>
            </a:r>
          </a:p>
        </p:txBody>
      </p:sp>
      <p:sp>
        <p:nvSpPr>
          <p:cNvPr id="11" name="Rect 11"/>
          <p:cNvSpPr/>
          <p:nvPr/>
        </p:nvSpPr>
        <p:spPr>
          <a:xfrm>
            <a:off x="4876724" y="1691640"/>
            <a:ext cx="2270684" cy="411480"/>
          </a:xfrm>
          <a:prstGeom prst="rect">
            <a:avLst/>
          </a:prstGeom>
          <a:solidFill>
            <a:srgbClr val="0F4C5C"/>
          </a:solidFill>
          <a:ln>
            <a:noFill/>
          </a:ln>
        </p:spPr>
        <p:txBody>
          <a:bodyPr wrap="square" rtlCol="0" anchor="ctr" lIns="0" tIns="0" rIns="0" bIns="0">
            <a:normAutofit/>
          </a:bodyPr>
          <a:lstStyle/>
          <a:p>
            <a:pPr algn="ct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Cubed-sphere C-D</a:t>
            </a:r>
          </a:p>
        </p:txBody>
      </p:sp>
      <p:sp>
        <p:nvSpPr>
          <p:cNvPr id="12" name="Rect 12"/>
          <p:cNvSpPr/>
          <p:nvPr/>
        </p:nvSpPr>
        <p:spPr>
          <a:xfrm>
            <a:off x="7147408" y="1691640"/>
            <a:ext cx="2270684" cy="411480"/>
          </a:xfrm>
          <a:prstGeom prst="rect">
            <a:avLst/>
          </a:prstGeom>
          <a:solidFill>
            <a:srgbClr val="0F4C5C"/>
          </a:solidFill>
          <a:ln>
            <a:noFill/>
          </a:ln>
        </p:spPr>
        <p:txBody>
          <a:bodyPr wrap="square" rtlCol="0" anchor="ctr" lIns="0" tIns="0" rIns="0" bIns="0">
            <a:normAutofit/>
          </a:bodyPr>
          <a:lstStyle/>
          <a:p>
            <a:pPr algn="ct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Gaussian / spectral</a:t>
            </a:r>
          </a:p>
        </p:txBody>
      </p:sp>
      <p:sp>
        <p:nvSpPr>
          <p:cNvPr id="13" name="Rect 13"/>
          <p:cNvSpPr/>
          <p:nvPr/>
        </p:nvSpPr>
        <p:spPr>
          <a:xfrm>
            <a:off x="9418091" y="1691640"/>
            <a:ext cx="2270684" cy="411480"/>
          </a:xfrm>
          <a:prstGeom prst="rect">
            <a:avLst/>
          </a:prstGeom>
          <a:solidFill>
            <a:srgbClr val="0F4C5C"/>
          </a:solidFill>
          <a:ln>
            <a:noFill/>
          </a:ln>
        </p:spPr>
        <p:txBody>
          <a:bodyPr wrap="square" rtlCol="0" anchor="ctr" lIns="0" tIns="0" rIns="0" bIns="0">
            <a:normAutofit/>
          </a:bodyPr>
          <a:lstStyle/>
          <a:p>
            <a:pPr algn="ct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MPAS Voronoi</a:t>
            </a:r>
          </a:p>
        </p:txBody>
      </p:sp>
      <p:sp>
        <p:nvSpPr>
          <p:cNvPr id="14" name="Rect 14"/>
          <p:cNvSpPr/>
          <p:nvPr/>
        </p:nvSpPr>
        <p:spPr>
          <a:xfrm>
            <a:off x="502920" y="2103120"/>
            <a:ext cx="2103120" cy="7772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wrap="square" rtlCol="0" anchor="ctr" lIns="137160" tIns="137160" rIns="137160" bIns="13716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A3A47"/>
                </a:solidFill>
                <a:latin typeface="Georgia"/>
                <a:ea typeface="Georgia"/>
                <a:cs typeface="Georgia"/>
              </a:rPr>
              <a:t>Shallow water</a:t>
            </a:r>
          </a:p>
        </p:txBody>
      </p:sp>
      <p:sp>
        <p:nvSpPr>
          <p:cNvPr id="15" name="Rect 15"/>
          <p:cNvSpPr/>
          <p:nvPr/>
        </p:nvSpPr>
        <p:spPr>
          <a:xfrm>
            <a:off x="2606040" y="2103120"/>
            <a:ext cx="2270684" cy="7772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txBody>
          <a:bodyPr wrap="square" rtlCol="0" anchor="ctr" lIns="45720" tIns="45720" rIns="45720" bIns="45720">
            <a:normAutofit/>
          </a:bodyPr>
          <a:lstStyle/>
          <a:p>
            <a:pPr algn="ct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shallow_water_latlon_cgrid</a:t>
            </a:r>
          </a:p>
        </p:txBody>
      </p:sp>
      <p:sp>
        <p:nvSpPr>
          <p:cNvPr id="16" name="Rect 16"/>
          <p:cNvSpPr/>
          <p:nvPr/>
        </p:nvSpPr>
        <p:spPr>
          <a:xfrm>
            <a:off x="4876724" y="2103120"/>
            <a:ext cx="2270684" cy="7772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txBody>
          <a:bodyPr wrap="square" rtlCol="0" anchor="ctr" lIns="45720" tIns="45720" rIns="45720" bIns="45720">
            <a:normAutofit/>
          </a:bodyPr>
          <a:lstStyle/>
          <a:p>
            <a:pPr algn="ct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shallow_water_fv3_cdgrid</a:t>
            </a:r>
          </a:p>
        </p:txBody>
      </p:sp>
      <p:sp>
        <p:nvSpPr>
          <p:cNvPr id="17" name="Rect 17"/>
          <p:cNvSpPr/>
          <p:nvPr/>
        </p:nvSpPr>
        <p:spPr>
          <a:xfrm>
            <a:off x="7147408" y="2103120"/>
            <a:ext cx="2270684" cy="7772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txBody>
          <a:bodyPr wrap="square" rtlCol="0" anchor="ctr" lIns="45720" tIns="45720" rIns="45720" bIns="45720">
            <a:normAutofit/>
          </a:bodyPr>
          <a:lstStyle/>
          <a:p>
            <a:pPr algn="ct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spectral_sw</a:t>
            </a:r>
          </a:p>
        </p:txBody>
      </p:sp>
      <p:sp>
        <p:nvSpPr>
          <p:cNvPr id="18" name="Rect 18"/>
          <p:cNvSpPr/>
          <p:nvPr/>
        </p:nvSpPr>
        <p:spPr>
          <a:xfrm>
            <a:off x="9418091" y="2103120"/>
            <a:ext cx="2270684" cy="7772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txBody>
          <a:bodyPr wrap="square" rtlCol="0" anchor="ctr" lIns="45720" tIns="45720" rIns="45720" bIns="45720">
            <a:normAutofit/>
          </a:bodyPr>
          <a:lstStyle/>
          <a:p>
            <a:pPr algn="ct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shallow_water_mpas</a:t>
            </a:r>
          </a:p>
        </p:txBody>
      </p:sp>
      <p:sp>
        <p:nvSpPr>
          <p:cNvPr id="19" name="Rect 19"/>
          <p:cNvSpPr/>
          <p:nvPr/>
        </p:nvSpPr>
        <p:spPr>
          <a:xfrm>
            <a:off x="502920" y="2880360"/>
            <a:ext cx="210312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 anchor="ctr" lIns="137160" tIns="137160" rIns="137160" bIns="13716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A3A47"/>
                </a:solidFill>
                <a:latin typeface="Georgia"/>
                <a:ea typeface="Georgia"/>
                <a:cs typeface="Georgia"/>
              </a:rPr>
              <a:t>Hydrostatic PE</a:t>
            </a:r>
          </a:p>
        </p:txBody>
      </p:sp>
      <p:sp>
        <p:nvSpPr>
          <p:cNvPr id="20" name="Rect 20"/>
          <p:cNvSpPr/>
          <p:nvPr/>
        </p:nvSpPr>
        <p:spPr>
          <a:xfrm>
            <a:off x="2606040" y="2880360"/>
            <a:ext cx="2270684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rtlCol="0" anchor="ctr" lIns="45720" tIns="45720" rIns="45720" bIns="45720">
            <a:normAutofit/>
          </a:bodyPr>
          <a:lstStyle/>
          <a:p>
            <a:pPr algn="ct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primitive_eq_latlon_cgrid</a:t>
            </a:r>
          </a:p>
        </p:txBody>
      </p:sp>
      <p:sp>
        <p:nvSpPr>
          <p:cNvPr id="21" name="Rect 21"/>
          <p:cNvSpPr/>
          <p:nvPr/>
        </p:nvSpPr>
        <p:spPr>
          <a:xfrm>
            <a:off x="4876724" y="2880360"/>
            <a:ext cx="2270684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rtlCol="0" anchor="ctr" lIns="45720" tIns="45720" rIns="45720" bIns="45720">
            <a:normAutofit/>
          </a:bodyPr>
          <a:lstStyle/>
          <a:p>
            <a:pPr algn="ct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primitive_eq_cdgrid</a:t>
            </a:r>
          </a:p>
        </p:txBody>
      </p:sp>
      <p:sp>
        <p:nvSpPr>
          <p:cNvPr id="22" name="Rect 22"/>
          <p:cNvSpPr/>
          <p:nvPr/>
        </p:nvSpPr>
        <p:spPr>
          <a:xfrm>
            <a:off x="7147408" y="2880360"/>
            <a:ext cx="2270684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rtlCol="0" anchor="ctr" lIns="45720" tIns="45720" rIns="45720" bIns="45720">
            <a:normAutofit/>
          </a:bodyPr>
          <a:lstStyle/>
          <a:p>
            <a:pPr algn="ct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spectral_pe</a:t>
            </a:r>
          </a:p>
        </p:txBody>
      </p:sp>
      <p:sp>
        <p:nvSpPr>
          <p:cNvPr id="23" name="Rect 23"/>
          <p:cNvSpPr/>
          <p:nvPr/>
        </p:nvSpPr>
        <p:spPr>
          <a:xfrm>
            <a:off x="9418091" y="2880360"/>
            <a:ext cx="2270684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rtlCol="0" anchor="ctr" lIns="45720" tIns="45720" rIns="45720" bIns="45720">
            <a:normAutofit/>
          </a:bodyPr>
          <a:lstStyle/>
          <a:p>
            <a:pPr algn="ct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primitive_eq_mpas</a:t>
            </a:r>
          </a:p>
        </p:txBody>
      </p:sp>
      <p:sp>
        <p:nvSpPr>
          <p:cNvPr id="24" name="Rect 24"/>
          <p:cNvSpPr/>
          <p:nvPr/>
        </p:nvSpPr>
        <p:spPr>
          <a:xfrm>
            <a:off x="502920" y="3657600"/>
            <a:ext cx="2103120" cy="7772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wrap="square" rtlCol="0" anchor="ctr" lIns="137160" tIns="137160" rIns="137160" bIns="13716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A3A47"/>
                </a:solidFill>
                <a:latin typeface="Georgia"/>
                <a:ea typeface="Georgia"/>
                <a:cs typeface="Georgia"/>
              </a:rPr>
              <a:t>Non-hydrostatic CE</a:t>
            </a:r>
          </a:p>
        </p:txBody>
      </p:sp>
      <p:sp>
        <p:nvSpPr>
          <p:cNvPr id="25" name="Rect 25"/>
          <p:cNvSpPr/>
          <p:nvPr/>
        </p:nvSpPr>
        <p:spPr>
          <a:xfrm>
            <a:off x="2606040" y="3657600"/>
            <a:ext cx="2270684" cy="7772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txBody>
          <a:bodyPr wrap="square" rtlCol="0" anchor="ctr" lIns="45720" tIns="45720" rIns="45720" bIns="45720">
            <a:normAutofit/>
          </a:bodyPr>
          <a:lstStyle/>
          <a:p>
            <a:pPr algn="ct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—</a:t>
            </a:r>
          </a:p>
        </p:txBody>
      </p:sp>
      <p:sp>
        <p:nvSpPr>
          <p:cNvPr id="26" name="Rect 26"/>
          <p:cNvSpPr/>
          <p:nvPr/>
        </p:nvSpPr>
        <p:spPr>
          <a:xfrm>
            <a:off x="4876724" y="3657600"/>
            <a:ext cx="2270684" cy="7772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txBody>
          <a:bodyPr wrap="square" rtlCol="0" anchor="ctr" lIns="45720" tIns="45720" rIns="45720" bIns="45720">
            <a:normAutofit/>
          </a:bodyPr>
          <a:lstStyle/>
          <a:p>
            <a:pPr algn="ct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compressible_euler_cdgrid</a:t>
            </a:r>
          </a:p>
        </p:txBody>
      </p:sp>
      <p:sp>
        <p:nvSpPr>
          <p:cNvPr id="27" name="Rect 27"/>
          <p:cNvSpPr/>
          <p:nvPr/>
        </p:nvSpPr>
        <p:spPr>
          <a:xfrm>
            <a:off x="7147408" y="3657600"/>
            <a:ext cx="2270684" cy="7772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txBody>
          <a:bodyPr wrap="square" rtlCol="0" anchor="ctr" lIns="45720" tIns="45720" rIns="45720" bIns="45720">
            <a:normAutofit/>
          </a:bodyPr>
          <a:lstStyle/>
          <a:p>
            <a:pPr algn="ct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spectral_nh</a:t>
            </a:r>
          </a:p>
        </p:txBody>
      </p:sp>
      <p:sp>
        <p:nvSpPr>
          <p:cNvPr id="28" name="Rect 28"/>
          <p:cNvSpPr/>
          <p:nvPr/>
        </p:nvSpPr>
        <p:spPr>
          <a:xfrm>
            <a:off x="9418091" y="3657600"/>
            <a:ext cx="2270684" cy="7772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txBody>
          <a:bodyPr wrap="square" rtlCol="0" anchor="ctr" lIns="45720" tIns="45720" rIns="45720" bIns="45720">
            <a:normAutofit/>
          </a:bodyPr>
          <a:lstStyle/>
          <a:p>
            <a:pPr algn="ct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compressible_euler_mpas</a:t>
            </a:r>
          </a:p>
        </p:txBody>
      </p:sp>
      <p:sp>
        <p:nvSpPr>
          <p:cNvPr id="29" name="Rect 29"/>
          <p:cNvSpPr/>
          <p:nvPr/>
        </p:nvSpPr>
        <p:spPr>
          <a:xfrm>
            <a:off x="502920" y="4434840"/>
            <a:ext cx="210312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 anchor="ctr" lIns="137160" tIns="137160" rIns="137160" bIns="13716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A3A47"/>
                </a:solidFill>
                <a:latin typeface="Georgia"/>
                <a:ea typeface="Georgia"/>
                <a:cs typeface="Georgia"/>
              </a:rPr>
              <a:t>Neural (SFNO)</a:t>
            </a:r>
          </a:p>
        </p:txBody>
      </p:sp>
      <p:sp>
        <p:nvSpPr>
          <p:cNvPr id="30" name="Rect 30"/>
          <p:cNvSpPr/>
          <p:nvPr/>
        </p:nvSpPr>
        <p:spPr>
          <a:xfrm>
            <a:off x="2606040" y="4434840"/>
            <a:ext cx="2270684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rtlCol="0" anchor="ctr" lIns="45720" tIns="45720" rIns="45720" bIns="45720">
            <a:normAutofit/>
          </a:bodyPr>
          <a:lstStyle/>
          <a:p>
            <a:pPr algn="ct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sfno_pe (channel-packed)</a:t>
            </a:r>
          </a:p>
        </p:txBody>
      </p:sp>
      <p:sp>
        <p:nvSpPr>
          <p:cNvPr id="31" name="Rect 31"/>
          <p:cNvSpPr/>
          <p:nvPr/>
        </p:nvSpPr>
        <p:spPr>
          <a:xfrm>
            <a:off x="4876724" y="4434840"/>
            <a:ext cx="2270684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rtlCol="0" anchor="ctr" lIns="45720" tIns="45720" rIns="45720" bIns="45720">
            <a:normAutofit/>
          </a:bodyPr>
          <a:lstStyle/>
          <a:p>
            <a:pPr algn="ct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sfno_pe / sfno_sw</a:t>
            </a:r>
          </a:p>
        </p:txBody>
      </p:sp>
      <p:sp>
        <p:nvSpPr>
          <p:cNvPr id="32" name="Rect 32"/>
          <p:cNvSpPr/>
          <p:nvPr/>
        </p:nvSpPr>
        <p:spPr>
          <a:xfrm>
            <a:off x="7147408" y="4434840"/>
            <a:ext cx="2270684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rtlCol="0" anchor="ctr" lIns="45720" tIns="45720" rIns="45720" bIns="45720">
            <a:normAutofit/>
          </a:bodyPr>
          <a:lstStyle/>
          <a:p>
            <a:pPr algn="ct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sfno (spherical)</a:t>
            </a:r>
          </a:p>
        </p:txBody>
      </p:sp>
      <p:sp>
        <p:nvSpPr>
          <p:cNvPr id="33" name="Rect 33"/>
          <p:cNvSpPr/>
          <p:nvPr/>
        </p:nvSpPr>
        <p:spPr>
          <a:xfrm>
            <a:off x="9418091" y="4434840"/>
            <a:ext cx="2270684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rtlCol="0" anchor="ctr" lIns="45720" tIns="45720" rIns="45720" bIns="45720">
            <a:normAutofit/>
          </a:bodyPr>
          <a:lstStyle/>
          <a:p>
            <a:pPr algn="ct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—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02920" y="5349240"/>
            <a:ext cx="11185855" cy="50292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4 grid families × 4 complexities. Tracer transport (RK3, 3rd-order PPM) and the physics interface are grid-agnostic; SFNO cores use the same SegmentCarry as the classical ones.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ect 3"/>
          <p:cNvSpPr/>
          <p:nvPr/>
        </p:nvSpPr>
        <p:spPr>
          <a:xfrm>
            <a:off x="502920" y="274320"/>
            <a:ext cx="384048" cy="54864"/>
          </a:xfrm>
          <a:prstGeom prst="rect">
            <a:avLst/>
          </a:prstGeom>
          <a:solidFill>
            <a:srgbClr val="E36414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Rect 4"/>
          <p:cNvSpPr/>
          <p:nvPr/>
        </p:nvSpPr>
        <p:spPr>
          <a:xfrm>
            <a:off x="1005840" y="219456"/>
            <a:ext cx="1783080" cy="219456"/>
          </a:xfrm>
          <a:prstGeom prst="rect">
            <a:avLst/>
          </a:prstGeom>
          <a:solidFill>
            <a:srgbClr val="0F4C5C"/>
          </a:solidFill>
          <a:ln>
            <a:noFill/>
          </a:ln>
        </p:spPr>
        <p:txBody>
          <a:bodyPr wrap="square" rtlCol="0" anchor="ctr" lIns="18288" tIns="18288" rIns="18288" bIns="18288">
            <a:normAutofit/>
          </a:bodyPr>
          <a:lstStyle/>
          <a:p>
            <a:pPr algn="ct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MODULARITY · ATM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02920" y="502920"/>
            <a:ext cx="11185855" cy="77724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0A3A47"/>
                </a:solidFill>
                <a:latin typeface="Georgia"/>
                <a:ea typeface="Georgia"/>
                <a:cs typeface="Georgia"/>
              </a:rPr>
              <a:t>Atmosphere — physics zoo</a:t>
            </a:r>
          </a:p>
        </p:txBody>
      </p:sp>
      <p:sp>
        <p:nvSpPr>
          <p:cNvPr id="6" name="Rect 6"/>
          <p:cNvSpPr/>
          <p:nvPr/>
        </p:nvSpPr>
        <p:spPr>
          <a:xfrm>
            <a:off x="502920" y="1280160"/>
            <a:ext cx="11185855" cy="10973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502920" y="6492240"/>
            <a:ext cx="6400800" cy="27432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900" i="1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legoESM  ·  a differentiable Earth System Model in JAX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317175" y="6492240"/>
            <a:ext cx="1371600" cy="27432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 algn="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12 / 30</a:t>
            </a:r>
          </a:p>
        </p:txBody>
      </p:sp>
      <p:sp>
        <p:nvSpPr>
          <p:cNvPr id="9" name="Rect 9"/>
          <p:cNvSpPr/>
          <p:nvPr/>
        </p:nvSpPr>
        <p:spPr>
          <a:xfrm>
            <a:off x="357988" y="1600200"/>
            <a:ext cx="370332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10" name="Rect 10"/>
          <p:cNvSpPr/>
          <p:nvPr/>
        </p:nvSpPr>
        <p:spPr>
          <a:xfrm>
            <a:off x="357988" y="1600200"/>
            <a:ext cx="73152" cy="1508760"/>
          </a:xfrm>
          <a:prstGeom prst="rect">
            <a:avLst/>
          </a:prstGeom>
          <a:solidFill>
            <a:srgbClr val="E3641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TextBox 11"/>
          <p:cNvSpPr txBox="1"/>
          <p:nvPr/>
        </p:nvSpPr>
        <p:spPr>
          <a:xfrm>
            <a:off x="540868" y="1691640"/>
            <a:ext cx="3429000" cy="36576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A3A47"/>
                </a:solidFill>
                <a:latin typeface="Georgia"/>
                <a:ea typeface="Georgia"/>
                <a:cs typeface="Georgia"/>
              </a:rPr>
              <a:t>Radiation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40868" y="2057400"/>
            <a:ext cx="3429000" cy="27432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E36414"/>
                </a:solidFill>
                <a:latin typeface="Consolas"/>
                <a:ea typeface="Consolas"/>
                <a:cs typeface="Consolas"/>
              </a:rPr>
              <a:t>radiation/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40868" y="2350008"/>
            <a:ext cx="3429000" cy="73152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22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gray (Frierson) · RRTMGP (LW g128 / g256, SW g112 / g224) · ozone_ml · solar (cos-zenith)</a:t>
            </a:r>
          </a:p>
        </p:txBody>
      </p:sp>
      <p:sp>
        <p:nvSpPr>
          <p:cNvPr id="14" name="Rect 14"/>
          <p:cNvSpPr/>
          <p:nvPr/>
        </p:nvSpPr>
        <p:spPr>
          <a:xfrm>
            <a:off x="4244188" y="1600200"/>
            <a:ext cx="370332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15" name="Rect 15"/>
          <p:cNvSpPr/>
          <p:nvPr/>
        </p:nvSpPr>
        <p:spPr>
          <a:xfrm>
            <a:off x="4244188" y="1600200"/>
            <a:ext cx="73152" cy="1508760"/>
          </a:xfrm>
          <a:prstGeom prst="rect">
            <a:avLst/>
          </a:prstGeom>
          <a:solidFill>
            <a:srgbClr val="E36414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extBox 16"/>
          <p:cNvSpPr txBox="1"/>
          <p:nvPr/>
        </p:nvSpPr>
        <p:spPr>
          <a:xfrm>
            <a:off x="4427068" y="1691640"/>
            <a:ext cx="3429000" cy="36576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A3A47"/>
                </a:solidFill>
                <a:latin typeface="Georgia"/>
                <a:ea typeface="Georgia"/>
                <a:cs typeface="Georgia"/>
              </a:rPr>
              <a:t>Convection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427068" y="2057400"/>
            <a:ext cx="3429000" cy="27432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E36414"/>
                </a:solidFill>
                <a:latin typeface="Consolas"/>
                <a:ea typeface="Consolas"/>
                <a:cs typeface="Consolas"/>
              </a:rPr>
              <a:t>convection/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427068" y="2350008"/>
            <a:ext cx="3429000" cy="73152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22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Bechtold · Tiedtke · Emanuel · Kain–Fritsch · Zhang–McFarlane · SBM (Frierson BM) · DCA · Kuo · shared mass_flux + plume + smooth triggers</a:t>
            </a:r>
          </a:p>
        </p:txBody>
      </p:sp>
      <p:sp>
        <p:nvSpPr>
          <p:cNvPr id="19" name="Rect 19"/>
          <p:cNvSpPr/>
          <p:nvPr/>
        </p:nvSpPr>
        <p:spPr>
          <a:xfrm>
            <a:off x="8130388" y="1600200"/>
            <a:ext cx="370332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20" name="Rect 20"/>
          <p:cNvSpPr/>
          <p:nvPr/>
        </p:nvSpPr>
        <p:spPr>
          <a:xfrm>
            <a:off x="8130388" y="1600200"/>
            <a:ext cx="73152" cy="1508760"/>
          </a:xfrm>
          <a:prstGeom prst="rect">
            <a:avLst/>
          </a:prstGeom>
          <a:solidFill>
            <a:srgbClr val="E36414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TextBox 21"/>
          <p:cNvSpPr txBox="1"/>
          <p:nvPr/>
        </p:nvSpPr>
        <p:spPr>
          <a:xfrm>
            <a:off x="8313268" y="1691640"/>
            <a:ext cx="3429000" cy="36576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A3A47"/>
                </a:solidFill>
                <a:latin typeface="Georgia"/>
                <a:ea typeface="Georgia"/>
                <a:cs typeface="Georgia"/>
              </a:rPr>
              <a:t>Microphysics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313268" y="2057400"/>
            <a:ext cx="3429000" cy="27432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E36414"/>
                </a:solidFill>
                <a:latin typeface="Consolas"/>
                <a:ea typeface="Consolas"/>
                <a:cs typeface="Consolas"/>
              </a:rPr>
              <a:t>microphysics/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313268" y="2350008"/>
            <a:ext cx="3429000" cy="73152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22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Kessler · Sundqvist · Seifert–Beheng · Morrison · Thompson · ml_emulator (Equinox MLP)</a:t>
            </a:r>
          </a:p>
        </p:txBody>
      </p:sp>
      <p:sp>
        <p:nvSpPr>
          <p:cNvPr id="24" name="Rect 24"/>
          <p:cNvSpPr/>
          <p:nvPr/>
        </p:nvSpPr>
        <p:spPr>
          <a:xfrm>
            <a:off x="357988" y="3337560"/>
            <a:ext cx="370332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25" name="Rect 25"/>
          <p:cNvSpPr/>
          <p:nvPr/>
        </p:nvSpPr>
        <p:spPr>
          <a:xfrm>
            <a:off x="357988" y="3337560"/>
            <a:ext cx="73152" cy="1508760"/>
          </a:xfrm>
          <a:prstGeom prst="rect">
            <a:avLst/>
          </a:prstGeom>
          <a:solidFill>
            <a:srgbClr val="E36414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Box 26"/>
          <p:cNvSpPr txBox="1"/>
          <p:nvPr/>
        </p:nvSpPr>
        <p:spPr>
          <a:xfrm>
            <a:off x="540868" y="3429000"/>
            <a:ext cx="3429000" cy="36576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A3A47"/>
                </a:solidFill>
                <a:latin typeface="Georgia"/>
                <a:ea typeface="Georgia"/>
                <a:cs typeface="Georgia"/>
              </a:rPr>
              <a:t>Cloud fraction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40868" y="3794760"/>
            <a:ext cx="3429000" cy="27432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E36414"/>
                </a:solidFill>
                <a:latin typeface="Consolas"/>
                <a:ea typeface="Consolas"/>
                <a:cs typeface="Consolas"/>
              </a:rPr>
              <a:t>clouds/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40868" y="4087368"/>
            <a:ext cx="3429000" cy="73152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22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Sundqvist · Xu–Randall</a:t>
            </a:r>
          </a:p>
        </p:txBody>
      </p:sp>
      <p:sp>
        <p:nvSpPr>
          <p:cNvPr id="29" name="Rect 29"/>
          <p:cNvSpPr/>
          <p:nvPr/>
        </p:nvSpPr>
        <p:spPr>
          <a:xfrm>
            <a:off x="4244188" y="3337560"/>
            <a:ext cx="370332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30" name="Rect 30"/>
          <p:cNvSpPr/>
          <p:nvPr/>
        </p:nvSpPr>
        <p:spPr>
          <a:xfrm>
            <a:off x="4244188" y="3337560"/>
            <a:ext cx="73152" cy="1508760"/>
          </a:xfrm>
          <a:prstGeom prst="rect">
            <a:avLst/>
          </a:prstGeom>
          <a:solidFill>
            <a:srgbClr val="E3641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TextBox 31"/>
          <p:cNvSpPr txBox="1"/>
          <p:nvPr/>
        </p:nvSpPr>
        <p:spPr>
          <a:xfrm>
            <a:off x="4427068" y="3429000"/>
            <a:ext cx="3429000" cy="36576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A3A47"/>
                </a:solidFill>
                <a:latin typeface="Georgia"/>
                <a:ea typeface="Georgia"/>
                <a:cs typeface="Georgia"/>
              </a:rPr>
              <a:t>Turbulence / PBL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427068" y="3794760"/>
            <a:ext cx="3429000" cy="27432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E36414"/>
                </a:solidFill>
                <a:latin typeface="Consolas"/>
                <a:ea typeface="Consolas"/>
                <a:cs typeface="Consolas"/>
              </a:rPr>
              <a:t>turbulence/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427068" y="4087368"/>
            <a:ext cx="3429000" cy="73152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22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YSU · EDMF · TKE (MY2.5) · Louis · CLUBB-lite · Holtslag–Boville · Smagorinsky · MOST surface layer</a:t>
            </a:r>
          </a:p>
        </p:txBody>
      </p:sp>
      <p:sp>
        <p:nvSpPr>
          <p:cNvPr id="34" name="Rect 34"/>
          <p:cNvSpPr/>
          <p:nvPr/>
        </p:nvSpPr>
        <p:spPr>
          <a:xfrm>
            <a:off x="8130388" y="3337560"/>
            <a:ext cx="370332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35" name="Rect 35"/>
          <p:cNvSpPr/>
          <p:nvPr/>
        </p:nvSpPr>
        <p:spPr>
          <a:xfrm>
            <a:off x="8130388" y="3337560"/>
            <a:ext cx="73152" cy="1508760"/>
          </a:xfrm>
          <a:prstGeom prst="rect">
            <a:avLst/>
          </a:prstGeom>
          <a:solidFill>
            <a:srgbClr val="E36414"/>
          </a:solidFill>
          <a:ln>
            <a:noFill/>
          </a:ln>
        </p:spPr>
        <p:txBody>
          <a:bodyPr/>
          <a:lstStyle/>
          <a:p/>
        </p:txBody>
      </p:sp>
      <p:sp>
        <p:nvSpPr>
          <p:cNvPr id="36" name="TextBox 36"/>
          <p:cNvSpPr txBox="1"/>
          <p:nvPr/>
        </p:nvSpPr>
        <p:spPr>
          <a:xfrm>
            <a:off x="8313268" y="3429000"/>
            <a:ext cx="3429000" cy="36576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A3A47"/>
                </a:solidFill>
                <a:latin typeface="Georgia"/>
                <a:ea typeface="Georgia"/>
                <a:cs typeface="Georgia"/>
              </a:rPr>
              <a:t>Gravity-wave drag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313268" y="3794760"/>
            <a:ext cx="3429000" cy="27432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E36414"/>
                </a:solidFill>
                <a:latin typeface="Consolas"/>
                <a:ea typeface="Consolas"/>
                <a:cs typeface="Consolas"/>
              </a:rPr>
              <a:t>gravity_wave_drag/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313268" y="4087368"/>
            <a:ext cx="3429000" cy="73152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22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Rayleigh · Lindzen · McFarlane · Hines · prognostic_spectral · ml_emulator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502920" y="5120640"/>
            <a:ext cx="11185855" cy="41148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 algn="ct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Every scheme exposes a NamedTuple config → integration.py factory → tendency function — interchangeable across all atmosphere dycores.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ect 3"/>
          <p:cNvSpPr/>
          <p:nvPr/>
        </p:nvSpPr>
        <p:spPr>
          <a:xfrm>
            <a:off x="502920" y="274320"/>
            <a:ext cx="384048" cy="54864"/>
          </a:xfrm>
          <a:prstGeom prst="rect">
            <a:avLst/>
          </a:prstGeom>
          <a:solidFill>
            <a:srgbClr val="E36414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Rect 4"/>
          <p:cNvSpPr/>
          <p:nvPr/>
        </p:nvSpPr>
        <p:spPr>
          <a:xfrm>
            <a:off x="1005840" y="219456"/>
            <a:ext cx="1783080" cy="219456"/>
          </a:xfrm>
          <a:prstGeom prst="rect">
            <a:avLst/>
          </a:prstGeom>
          <a:solidFill>
            <a:srgbClr val="0F4C5C"/>
          </a:solidFill>
          <a:ln>
            <a:noFill/>
          </a:ln>
        </p:spPr>
        <p:txBody>
          <a:bodyPr wrap="square" rtlCol="0" anchor="ctr" lIns="18288" tIns="18288" rIns="18288" bIns="18288">
            <a:normAutofit/>
          </a:bodyPr>
          <a:lstStyle/>
          <a:p>
            <a:pPr algn="ct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MODULARITY · OCEAN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02920" y="502920"/>
            <a:ext cx="11185855" cy="77724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0A3A47"/>
                </a:solidFill>
                <a:latin typeface="Georgia"/>
                <a:ea typeface="Georgia"/>
                <a:cs typeface="Georgia"/>
              </a:rPr>
              <a:t>Ocean — dynamical cores</a:t>
            </a:r>
          </a:p>
        </p:txBody>
      </p:sp>
      <p:sp>
        <p:nvSpPr>
          <p:cNvPr id="6" name="Rect 6"/>
          <p:cNvSpPr/>
          <p:nvPr/>
        </p:nvSpPr>
        <p:spPr>
          <a:xfrm>
            <a:off x="502920" y="1280160"/>
            <a:ext cx="11185855" cy="10973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502920" y="6492240"/>
            <a:ext cx="6400800" cy="27432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900" i="1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legoESM  ·  a differentiable Earth System Model in JAX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317175" y="6492240"/>
            <a:ext cx="1371600" cy="27432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 algn="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13 / 30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02920" y="1554480"/>
            <a:ext cx="5943600" cy="36576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A3A47"/>
                </a:solidFill>
                <a:latin typeface="Georgia"/>
                <a:ea typeface="Georgia"/>
                <a:cs typeface="Georgia"/>
              </a:rPr>
              <a:t>Same prognostic ocean PE across four grids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02920" y="2011680"/>
            <a:ext cx="5943600" cy="420624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8000"/>
              </a:lnSpc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E36414"/>
                </a:solidFill>
                <a:latin typeface="Calibri"/>
                <a:ea typeface="Calibri"/>
                <a:cs typeface="Calibri"/>
              </a:rPr>
              <a:t>▸  </a:t>
            </a:r>
            <a:r>
              <a:rPr lang="en-US" sz="125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Lat-lon C-grid (FV, Sadourny EC vector-invariant; MOM6-style slow-forcing split): ocean_pe_latlon_cgrid.py</a:t>
            </a:r>
          </a:p>
          <a:p>
            <a:pPr>
              <a:lnSpc>
                <a:spcPct val="118000"/>
              </a:lnSpc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E36414"/>
                </a:solidFill>
                <a:latin typeface="Calibri"/>
                <a:ea typeface="Calibri"/>
                <a:cs typeface="Calibri"/>
              </a:rPr>
              <a:t>▸  </a:t>
            </a:r>
            <a:r>
              <a:rPr lang="en-US" sz="125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Cubed-sphere C-D (Boussinesq, Lin 2004 + Griffies 2004): ocean_pe_cdgrid.py</a:t>
            </a:r>
          </a:p>
          <a:p>
            <a:pPr>
              <a:lnSpc>
                <a:spcPct val="118000"/>
              </a:lnSpc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E36414"/>
                </a:solidFill>
                <a:latin typeface="Calibri"/>
                <a:ea typeface="Calibri"/>
                <a:cs typeface="Calibri"/>
              </a:rPr>
              <a:t>▸  </a:t>
            </a:r>
            <a:r>
              <a:rPr lang="en-US" sz="125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MPAS Voronoi (TRiSK, Ringler 2010): ocean_pe_mpas.py</a:t>
            </a:r>
          </a:p>
          <a:p>
            <a:pPr>
              <a:lnSpc>
                <a:spcPct val="118000"/>
              </a:lnSpc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E36414"/>
                </a:solidFill>
                <a:latin typeface="Calibri"/>
                <a:ea typeface="Calibri"/>
                <a:cs typeface="Calibri"/>
              </a:rPr>
              <a:t>▸  </a:t>
            </a:r>
            <a:r>
              <a:rPr lang="en-US" sz="125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Spectral + FC-Gram: spectral_ocean_pe.py, ocean_pe_fc.py</a:t>
            </a:r>
          </a:p>
          <a:p>
            <a:pPr>
              <a:lnSpc>
                <a:spcPct val="118000"/>
              </a:lnSpc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E36414"/>
                </a:solidFill>
                <a:latin typeface="Calibri"/>
                <a:ea typeface="Calibri"/>
                <a:cs typeface="Calibri"/>
              </a:rPr>
              <a:t>▸  </a:t>
            </a:r>
            <a:r>
              <a:rPr lang="en-US" sz="125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Learned ocean (SFNO): sfno_ocean.py — packed PE state ↔ tensors via channel_packing</a:t>
            </a:r>
          </a:p>
          <a:p>
            <a:pPr>
              <a:lnSpc>
                <a:spcPct val="118000"/>
              </a:lnSpc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E36414"/>
                </a:solidFill>
                <a:latin typeface="Calibri"/>
                <a:ea typeface="Calibri"/>
                <a:cs typeface="Calibri"/>
              </a:rPr>
              <a:t>▸  </a:t>
            </a:r>
            <a:r>
              <a:rPr lang="en-US" sz="125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Shared baroclinic helpers (ocean_tendency_common): EOS-pressure iteration, tracer sponge, freshwater virtual-salt, implicit bottom drag</a:t>
            </a:r>
          </a:p>
          <a:p>
            <a:pPr>
              <a:lnSpc>
                <a:spcPct val="118000"/>
              </a:lnSpc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E36414"/>
                </a:solidFill>
                <a:latin typeface="Calibri"/>
                <a:ea typeface="Calibri"/>
                <a:cs typeface="Calibri"/>
              </a:rPr>
              <a:t>▸  </a:t>
            </a:r>
            <a:r>
              <a:rPr lang="en-US" sz="125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Shared barotropic helpers (barotropic_common): cosine / box filter, BEBT eta blend, MAXVEL clip</a:t>
            </a:r>
          </a:p>
        </p:txBody>
      </p:sp>
      <p:sp>
        <p:nvSpPr>
          <p:cNvPr id="11" name="Rect 11"/>
          <p:cNvSpPr/>
          <p:nvPr/>
        </p:nvSpPr>
        <p:spPr>
          <a:xfrm>
            <a:off x="6720840" y="1554480"/>
            <a:ext cx="4967935" cy="452628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12" name="TextBox 12"/>
          <p:cNvSpPr txBox="1"/>
          <p:nvPr/>
        </p:nvSpPr>
        <p:spPr>
          <a:xfrm>
            <a:off x="6949440" y="1691640"/>
            <a:ext cx="4510735" cy="36576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E36414"/>
                </a:solidFill>
                <a:latin typeface="Georgia"/>
                <a:ea typeface="Georgia"/>
                <a:cs typeface="Georgia"/>
              </a:rPr>
              <a:t>Vertical &amp; solvers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949440" y="2148840"/>
            <a:ext cx="4510735" cy="393192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22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E36414"/>
                </a:solidFill>
                <a:latin typeface="Calibri"/>
                <a:ea typeface="Calibri"/>
                <a:cs typeface="Calibri"/>
              </a:rPr>
              <a:t>▸  </a:t>
            </a:r>
            <a:r>
              <a:rPr lang="en-US" sz="120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z-star vertical coordinate (ocean/vertical.py)</a:t>
            </a:r>
          </a:p>
          <a:p>
            <a:pPr>
              <a:lnSpc>
                <a:spcPct val="122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E36414"/>
                </a:solidFill>
                <a:latin typeface="Calibri"/>
                <a:ea typeface="Calibri"/>
                <a:cs typeface="Calibri"/>
              </a:rPr>
              <a:t>▸  </a:t>
            </a:r>
            <a:r>
              <a:rPr lang="en-US" sz="120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Wright (1997) EOS + Boussinesq</a:t>
            </a:r>
          </a:p>
          <a:p>
            <a:pPr>
              <a:lnSpc>
                <a:spcPct val="122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E36414"/>
                </a:solidFill>
                <a:latin typeface="Calibri"/>
                <a:ea typeface="Calibri"/>
                <a:cs typeface="Calibri"/>
              </a:rPr>
              <a:t>▸  </a:t>
            </a:r>
            <a:r>
              <a:rPr lang="en-US" sz="120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Pressure gradient: AHH08, SMC03 variants</a:t>
            </a:r>
          </a:p>
          <a:p>
            <a:pPr>
              <a:lnSpc>
                <a:spcPct val="122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E36414"/>
                </a:solidFill>
                <a:latin typeface="Calibri"/>
                <a:ea typeface="Calibri"/>
                <a:cs typeface="Calibri"/>
              </a:rPr>
              <a:t>▸  </a:t>
            </a:r>
            <a:r>
              <a:rPr lang="en-US" sz="120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Implicit + explicit barotropic solvers across all grids</a:t>
            </a:r>
          </a:p>
          <a:p>
            <a:pPr>
              <a:lnSpc>
                <a:spcPct val="122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E36414"/>
                </a:solidFill>
                <a:latin typeface="Calibri"/>
                <a:ea typeface="Calibri"/>
                <a:cs typeface="Calibri"/>
              </a:rPr>
              <a:t>▸  </a:t>
            </a:r>
            <a:r>
              <a:rPr lang="en-US" sz="120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Tridiagonal vertical implicit mixing</a:t>
            </a:r>
          </a:p>
          <a:p>
            <a:pPr>
              <a:lnSpc>
                <a:spcPct val="122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E36414"/>
                </a:solidFill>
                <a:latin typeface="Calibri"/>
                <a:ea typeface="Calibri"/>
                <a:cs typeface="Calibri"/>
              </a:rPr>
              <a:t>▸  </a:t>
            </a:r>
            <a:r>
              <a:rPr lang="en-US" sz="120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Tripolar eORCA1 grid with pole-fold halo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ect 3"/>
          <p:cNvSpPr/>
          <p:nvPr/>
        </p:nvSpPr>
        <p:spPr>
          <a:xfrm>
            <a:off x="502920" y="274320"/>
            <a:ext cx="384048" cy="54864"/>
          </a:xfrm>
          <a:prstGeom prst="rect">
            <a:avLst/>
          </a:prstGeom>
          <a:solidFill>
            <a:srgbClr val="E36414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Rect 4"/>
          <p:cNvSpPr/>
          <p:nvPr/>
        </p:nvSpPr>
        <p:spPr>
          <a:xfrm>
            <a:off x="1005840" y="219456"/>
            <a:ext cx="1783080" cy="219456"/>
          </a:xfrm>
          <a:prstGeom prst="rect">
            <a:avLst/>
          </a:prstGeom>
          <a:solidFill>
            <a:srgbClr val="0F4C5C"/>
          </a:solidFill>
          <a:ln>
            <a:noFill/>
          </a:ln>
        </p:spPr>
        <p:txBody>
          <a:bodyPr wrap="square" rtlCol="0" anchor="ctr" lIns="18288" tIns="18288" rIns="18288" bIns="18288">
            <a:normAutofit/>
          </a:bodyPr>
          <a:lstStyle/>
          <a:p>
            <a:pPr algn="ct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MODULARITY · OCEAN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02920" y="502920"/>
            <a:ext cx="11185855" cy="77724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0A3A47"/>
                </a:solidFill>
                <a:latin typeface="Georgia"/>
                <a:ea typeface="Georgia"/>
                <a:cs typeface="Georgia"/>
              </a:rPr>
              <a:t>Ocean — physics &amp; biogeochemistry</a:t>
            </a:r>
          </a:p>
        </p:txBody>
      </p:sp>
      <p:sp>
        <p:nvSpPr>
          <p:cNvPr id="6" name="Rect 6"/>
          <p:cNvSpPr/>
          <p:nvPr/>
        </p:nvSpPr>
        <p:spPr>
          <a:xfrm>
            <a:off x="502920" y="1280160"/>
            <a:ext cx="11185855" cy="10973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502920" y="6492240"/>
            <a:ext cx="6400800" cy="27432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900" i="1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legoESM  ·  a differentiable Earth System Model in JAX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317175" y="6492240"/>
            <a:ext cx="1371600" cy="27432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 algn="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14 / 30</a:t>
            </a:r>
          </a:p>
        </p:txBody>
      </p:sp>
      <p:sp>
        <p:nvSpPr>
          <p:cNvPr id="9" name="Rect 9"/>
          <p:cNvSpPr/>
          <p:nvPr/>
        </p:nvSpPr>
        <p:spPr>
          <a:xfrm>
            <a:off x="502920" y="1627632"/>
            <a:ext cx="54864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10" name="Rect 10"/>
          <p:cNvSpPr/>
          <p:nvPr/>
        </p:nvSpPr>
        <p:spPr>
          <a:xfrm>
            <a:off x="502920" y="1627632"/>
            <a:ext cx="64008" cy="868680"/>
          </a:xfrm>
          <a:prstGeom prst="rect">
            <a:avLst/>
          </a:prstGeom>
          <a:solidFill>
            <a:srgbClr val="0F4C5C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TextBox 11"/>
          <p:cNvSpPr txBox="1"/>
          <p:nvPr/>
        </p:nvSpPr>
        <p:spPr>
          <a:xfrm>
            <a:off x="667512" y="1700784"/>
            <a:ext cx="5212080" cy="27432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A3A47"/>
                </a:solidFill>
                <a:latin typeface="Georgia"/>
                <a:ea typeface="Georgia"/>
                <a:cs typeface="Georgia"/>
              </a:rPr>
              <a:t>Vertical mixing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67512" y="1956816"/>
            <a:ext cx="5212080" cy="256032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E36414"/>
                </a:solidFill>
                <a:latin typeface="Consolas"/>
                <a:ea typeface="Consolas"/>
                <a:cs typeface="Consolas"/>
              </a:rPr>
              <a:t>vertical_mixing/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67512" y="2194560"/>
            <a:ext cx="5212080" cy="27432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KPP (LMD94, non-local) · Richardson · constant · Jayne–St-Laurent tidal · implicit tridiagonal</a:t>
            </a:r>
          </a:p>
        </p:txBody>
      </p:sp>
      <p:sp>
        <p:nvSpPr>
          <p:cNvPr id="14" name="Rect 14"/>
          <p:cNvSpPr/>
          <p:nvPr/>
        </p:nvSpPr>
        <p:spPr>
          <a:xfrm>
            <a:off x="6263640" y="1627632"/>
            <a:ext cx="54864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15" name="Rect 15"/>
          <p:cNvSpPr/>
          <p:nvPr/>
        </p:nvSpPr>
        <p:spPr>
          <a:xfrm>
            <a:off x="6263640" y="1627632"/>
            <a:ext cx="64008" cy="868680"/>
          </a:xfrm>
          <a:prstGeom prst="rect">
            <a:avLst/>
          </a:prstGeom>
          <a:solidFill>
            <a:srgbClr val="0F4C5C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extBox 16"/>
          <p:cNvSpPr txBox="1"/>
          <p:nvPr/>
        </p:nvSpPr>
        <p:spPr>
          <a:xfrm>
            <a:off x="6428232" y="1700784"/>
            <a:ext cx="5212080" cy="27432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A3A47"/>
                </a:solidFill>
                <a:latin typeface="Georgia"/>
                <a:ea typeface="Georgia"/>
                <a:cs typeface="Georgia"/>
              </a:rPr>
              <a:t>Lateral mixing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428232" y="1956816"/>
            <a:ext cx="5212080" cy="256032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E36414"/>
                </a:solidFill>
                <a:latin typeface="Consolas"/>
                <a:ea typeface="Consolas"/>
                <a:cs typeface="Consolas"/>
              </a:rPr>
              <a:t>lateral_mixing/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428232" y="2194560"/>
            <a:ext cx="5212080" cy="27432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Harmonic · biharmonic · GM-Redi (cube / lat-lon / MPAS) with DM95 slope tapering · Visbeck adaptive κ · eddy backscatter</a:t>
            </a:r>
          </a:p>
        </p:txBody>
      </p:sp>
      <p:sp>
        <p:nvSpPr>
          <p:cNvPr id="19" name="Rect 19"/>
          <p:cNvSpPr/>
          <p:nvPr/>
        </p:nvSpPr>
        <p:spPr>
          <a:xfrm>
            <a:off x="502920" y="2660904"/>
            <a:ext cx="54864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20" name="Rect 20"/>
          <p:cNvSpPr/>
          <p:nvPr/>
        </p:nvSpPr>
        <p:spPr>
          <a:xfrm>
            <a:off x="502920" y="2660904"/>
            <a:ext cx="64008" cy="868680"/>
          </a:xfrm>
          <a:prstGeom prst="rect">
            <a:avLst/>
          </a:prstGeom>
          <a:solidFill>
            <a:srgbClr val="0F4C5C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TextBox 21"/>
          <p:cNvSpPr txBox="1"/>
          <p:nvPr/>
        </p:nvSpPr>
        <p:spPr>
          <a:xfrm>
            <a:off x="667512" y="2734056"/>
            <a:ext cx="5212080" cy="27432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A3A47"/>
                </a:solidFill>
                <a:latin typeface="Georgia"/>
                <a:ea typeface="Georgia"/>
                <a:cs typeface="Georgia"/>
              </a:rPr>
              <a:t>Bottom drag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67512" y="2990088"/>
            <a:ext cx="5212080" cy="256032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E36414"/>
                </a:solidFill>
                <a:latin typeface="Consolas"/>
                <a:ea typeface="Consolas"/>
                <a:cs typeface="Consolas"/>
              </a:rPr>
              <a:t>bottom_drag/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67512" y="3227832"/>
            <a:ext cx="5212080" cy="27432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Linear &amp; quadratic + implicit factor in ocean_tendency_common</a:t>
            </a:r>
          </a:p>
        </p:txBody>
      </p:sp>
      <p:sp>
        <p:nvSpPr>
          <p:cNvPr id="24" name="Rect 24"/>
          <p:cNvSpPr/>
          <p:nvPr/>
        </p:nvSpPr>
        <p:spPr>
          <a:xfrm>
            <a:off x="6263640" y="2660904"/>
            <a:ext cx="54864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25" name="Rect 25"/>
          <p:cNvSpPr/>
          <p:nvPr/>
        </p:nvSpPr>
        <p:spPr>
          <a:xfrm>
            <a:off x="6263640" y="2660904"/>
            <a:ext cx="64008" cy="868680"/>
          </a:xfrm>
          <a:prstGeom prst="rect">
            <a:avLst/>
          </a:prstGeom>
          <a:solidFill>
            <a:srgbClr val="0F4C5C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Box 26"/>
          <p:cNvSpPr txBox="1"/>
          <p:nvPr/>
        </p:nvSpPr>
        <p:spPr>
          <a:xfrm>
            <a:off x="6428232" y="2734056"/>
            <a:ext cx="5212080" cy="27432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A3A47"/>
                </a:solidFill>
                <a:latin typeface="Georgia"/>
                <a:ea typeface="Georgia"/>
                <a:cs typeface="Georgia"/>
              </a:rPr>
              <a:t>Surface forcing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428232" y="2990088"/>
            <a:ext cx="5212080" cy="256032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E36414"/>
                </a:solidFill>
                <a:latin typeface="Consolas"/>
                <a:ea typeface="Consolas"/>
                <a:cs typeface="Consolas"/>
              </a:rPr>
              <a:t>surface_forcing/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428232" y="3227832"/>
            <a:ext cx="5212080" cy="27432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COARE 3.0 · Large–Yeager 09 · fixed-z0 · restoring · prescribed · wind_profiles</a:t>
            </a:r>
          </a:p>
        </p:txBody>
      </p:sp>
      <p:sp>
        <p:nvSpPr>
          <p:cNvPr id="29" name="Rect 29"/>
          <p:cNvSpPr/>
          <p:nvPr/>
        </p:nvSpPr>
        <p:spPr>
          <a:xfrm>
            <a:off x="502920" y="3694176"/>
            <a:ext cx="54864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30" name="Rect 30"/>
          <p:cNvSpPr/>
          <p:nvPr/>
        </p:nvSpPr>
        <p:spPr>
          <a:xfrm>
            <a:off x="502920" y="3694176"/>
            <a:ext cx="64008" cy="868680"/>
          </a:xfrm>
          <a:prstGeom prst="rect">
            <a:avLst/>
          </a:prstGeom>
          <a:solidFill>
            <a:srgbClr val="0F4C5C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TextBox 31"/>
          <p:cNvSpPr txBox="1"/>
          <p:nvPr/>
        </p:nvSpPr>
        <p:spPr>
          <a:xfrm>
            <a:off x="667512" y="3767328"/>
            <a:ext cx="5212080" cy="27432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A3A47"/>
                </a:solidFill>
                <a:latin typeface="Georgia"/>
                <a:ea typeface="Georgia"/>
                <a:cs typeface="Georgia"/>
              </a:rPr>
              <a:t>Convection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67512" y="4023360"/>
            <a:ext cx="5212080" cy="256032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E36414"/>
                </a:solidFill>
                <a:latin typeface="Consolas"/>
                <a:ea typeface="Consolas"/>
                <a:cs typeface="Consolas"/>
              </a:rPr>
              <a:t>convection/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67512" y="4261104"/>
            <a:ext cx="5212080" cy="27432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Plume + enhanced diffusion (gradient-safe sigmoid active mask)</a:t>
            </a:r>
          </a:p>
        </p:txBody>
      </p:sp>
      <p:sp>
        <p:nvSpPr>
          <p:cNvPr id="34" name="Rect 34"/>
          <p:cNvSpPr/>
          <p:nvPr/>
        </p:nvSpPr>
        <p:spPr>
          <a:xfrm>
            <a:off x="6263640" y="3694176"/>
            <a:ext cx="54864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35" name="Rect 35"/>
          <p:cNvSpPr/>
          <p:nvPr/>
        </p:nvSpPr>
        <p:spPr>
          <a:xfrm>
            <a:off x="6263640" y="3694176"/>
            <a:ext cx="64008" cy="868680"/>
          </a:xfrm>
          <a:prstGeom prst="rect">
            <a:avLst/>
          </a:prstGeom>
          <a:solidFill>
            <a:srgbClr val="0F4C5C"/>
          </a:solidFill>
          <a:ln>
            <a:noFill/>
          </a:ln>
        </p:spPr>
        <p:txBody>
          <a:bodyPr/>
          <a:lstStyle/>
          <a:p/>
        </p:txBody>
      </p:sp>
      <p:sp>
        <p:nvSpPr>
          <p:cNvPr id="36" name="TextBox 36"/>
          <p:cNvSpPr txBox="1"/>
          <p:nvPr/>
        </p:nvSpPr>
        <p:spPr>
          <a:xfrm>
            <a:off x="6428232" y="3767328"/>
            <a:ext cx="5212080" cy="27432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A3A47"/>
                </a:solidFill>
                <a:latin typeface="Georgia"/>
                <a:ea typeface="Georgia"/>
                <a:cs typeface="Georgia"/>
              </a:rPr>
              <a:t>Shortwave penetration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428232" y="4023360"/>
            <a:ext cx="5212080" cy="256032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E36414"/>
                </a:solidFill>
                <a:latin typeface="Consolas"/>
                <a:ea typeface="Consolas"/>
                <a:cs typeface="Consolas"/>
              </a:rPr>
              <a:t>shortwave_penetration.py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428232" y="4261104"/>
            <a:ext cx="5212080" cy="27432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Jerlov optical-water types</a:t>
            </a:r>
          </a:p>
        </p:txBody>
      </p:sp>
      <p:sp>
        <p:nvSpPr>
          <p:cNvPr id="39" name="Rect 39"/>
          <p:cNvSpPr/>
          <p:nvPr/>
        </p:nvSpPr>
        <p:spPr>
          <a:xfrm>
            <a:off x="502920" y="4727448"/>
            <a:ext cx="54864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40" name="Rect 40"/>
          <p:cNvSpPr/>
          <p:nvPr/>
        </p:nvSpPr>
        <p:spPr>
          <a:xfrm>
            <a:off x="502920" y="4727448"/>
            <a:ext cx="64008" cy="868680"/>
          </a:xfrm>
          <a:prstGeom prst="rect">
            <a:avLst/>
          </a:prstGeom>
          <a:solidFill>
            <a:srgbClr val="0F4C5C"/>
          </a:solidFill>
          <a:ln>
            <a:noFill/>
          </a:ln>
        </p:spPr>
        <p:txBody>
          <a:bodyPr/>
          <a:lstStyle/>
          <a:p/>
        </p:txBody>
      </p:sp>
      <p:sp>
        <p:nvSpPr>
          <p:cNvPr id="41" name="TextBox 41"/>
          <p:cNvSpPr txBox="1"/>
          <p:nvPr/>
        </p:nvSpPr>
        <p:spPr>
          <a:xfrm>
            <a:off x="667512" y="4800600"/>
            <a:ext cx="5212080" cy="27432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A3A47"/>
                </a:solidFill>
                <a:latin typeface="Georgia"/>
                <a:ea typeface="Georgia"/>
                <a:cs typeface="Georgia"/>
              </a:rPr>
              <a:t>Ice-shelf basal melt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67512" y="5056632"/>
            <a:ext cx="5212080" cy="256032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E36414"/>
                </a:solidFill>
                <a:latin typeface="Consolas"/>
                <a:ea typeface="Consolas"/>
                <a:cs typeface="Consolas"/>
              </a:rPr>
              <a:t>ice_shelf_basal_melt.py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67512" y="5294376"/>
            <a:ext cx="5212080" cy="27432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Jenkins 1991 / Holland-Jenkins 1999 three-equation (ISOMIP+)</a:t>
            </a:r>
          </a:p>
        </p:txBody>
      </p:sp>
      <p:sp>
        <p:nvSpPr>
          <p:cNvPr id="44" name="Rect 44"/>
          <p:cNvSpPr/>
          <p:nvPr/>
        </p:nvSpPr>
        <p:spPr>
          <a:xfrm>
            <a:off x="6263640" y="4727448"/>
            <a:ext cx="54864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45" name="Rect 45"/>
          <p:cNvSpPr/>
          <p:nvPr/>
        </p:nvSpPr>
        <p:spPr>
          <a:xfrm>
            <a:off x="6263640" y="4727448"/>
            <a:ext cx="64008" cy="868680"/>
          </a:xfrm>
          <a:prstGeom prst="rect">
            <a:avLst/>
          </a:prstGeom>
          <a:solidFill>
            <a:srgbClr val="0F4C5C"/>
          </a:solidFill>
          <a:ln>
            <a:noFill/>
          </a:ln>
        </p:spPr>
        <p:txBody>
          <a:bodyPr/>
          <a:lstStyle/>
          <a:p/>
        </p:txBody>
      </p:sp>
      <p:sp>
        <p:nvSpPr>
          <p:cNvPr id="46" name="TextBox 46"/>
          <p:cNvSpPr txBox="1"/>
          <p:nvPr/>
        </p:nvSpPr>
        <p:spPr>
          <a:xfrm>
            <a:off x="6428232" y="4800600"/>
            <a:ext cx="5212080" cy="27432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A3A47"/>
                </a:solidFill>
                <a:latin typeface="Georgia"/>
                <a:ea typeface="Georgia"/>
                <a:cs typeface="Georgia"/>
              </a:rPr>
              <a:t>Biogeochemistry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6428232" y="5056632"/>
            <a:ext cx="5212080" cy="256032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E36414"/>
                </a:solidFill>
                <a:latin typeface="Consolas"/>
                <a:ea typeface="Consolas"/>
                <a:cs typeface="Consolas"/>
              </a:rPr>
              <a:t>biogeochemistry/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6428232" y="5294376"/>
            <a:ext cx="5212080" cy="27432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Abiotic DIC + ALK carbonate · NPZD · air–sea CO₂ Schmidt-number gas exchange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502920" y="5852160"/>
            <a:ext cx="11185855" cy="41148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 algn="ct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200" b="1" i="1" dirty="0">
                <a:solidFill>
                  <a:srgbClr val="E36414"/>
                </a:solidFill>
                <a:latin typeface="Calibri"/>
                <a:ea typeface="Calibri"/>
                <a:cs typeface="Calibri"/>
              </a:rPr>
              <a:t>Ocean test matrix: 57 / 57 PASS across lat-lon, tripolar eORCA1, cubed-sphere C-D, MPAS Voronoi.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ect 3"/>
          <p:cNvSpPr/>
          <p:nvPr/>
        </p:nvSpPr>
        <p:spPr>
          <a:xfrm>
            <a:off x="502920" y="274320"/>
            <a:ext cx="384048" cy="54864"/>
          </a:xfrm>
          <a:prstGeom prst="rect">
            <a:avLst/>
          </a:prstGeom>
          <a:solidFill>
            <a:srgbClr val="E36414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Rect 4"/>
          <p:cNvSpPr/>
          <p:nvPr/>
        </p:nvSpPr>
        <p:spPr>
          <a:xfrm>
            <a:off x="1005840" y="219456"/>
            <a:ext cx="1783080" cy="219456"/>
          </a:xfrm>
          <a:prstGeom prst="rect">
            <a:avLst/>
          </a:prstGeom>
          <a:solidFill>
            <a:srgbClr val="0F4C5C"/>
          </a:solidFill>
          <a:ln>
            <a:noFill/>
          </a:ln>
        </p:spPr>
        <p:txBody>
          <a:bodyPr wrap="square" rtlCol="0" anchor="ctr" lIns="18288" tIns="18288" rIns="18288" bIns="18288">
            <a:normAutofit/>
          </a:bodyPr>
          <a:lstStyle/>
          <a:p>
            <a:pPr algn="ct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MODULARITY · LAND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02920" y="502920"/>
            <a:ext cx="11185855" cy="77724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0A3A47"/>
                </a:solidFill>
                <a:latin typeface="Georgia"/>
                <a:ea typeface="Georgia"/>
                <a:cs typeface="Georgia"/>
              </a:rPr>
              <a:t>Land — slab to multilayer Richards + carbon</a:t>
            </a:r>
          </a:p>
        </p:txBody>
      </p:sp>
      <p:sp>
        <p:nvSpPr>
          <p:cNvPr id="6" name="Rect 6"/>
          <p:cNvSpPr/>
          <p:nvPr/>
        </p:nvSpPr>
        <p:spPr>
          <a:xfrm>
            <a:off x="502920" y="1280160"/>
            <a:ext cx="11185855" cy="10973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502920" y="6492240"/>
            <a:ext cx="6400800" cy="27432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900" i="1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legoESM  ·  a differentiable Earth System Model in JAX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317175" y="6492240"/>
            <a:ext cx="1371600" cy="27432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 algn="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15 / 30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02920" y="1554480"/>
            <a:ext cx="6035040" cy="36576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A3A47"/>
                </a:solidFill>
                <a:latin typeface="Georgia"/>
                <a:ea typeface="Georgia"/>
                <a:cs typeface="Georgia"/>
              </a:rPr>
              <a:t>Two complexity tiers under one interface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02920" y="2011680"/>
            <a:ext cx="6035040" cy="420624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E36414"/>
                </a:solidFill>
                <a:latin typeface="Calibri"/>
                <a:ea typeface="Calibri"/>
                <a:cs typeface="Calibri"/>
              </a:rPr>
              <a:t>▸  </a:t>
            </a:r>
            <a:r>
              <a:rPr lang="en-US" sz="125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Slab land (land/slab_land.py): energy balance + bucket hydrology + snow + stomata (Farquhar / Ball-Berry / Medlyn / Jarvis).</a:t>
            </a:r>
          </a:p>
          <a:p>
            <a:pPr>
              <a:lnSpc>
                <a:spcPct val="120000"/>
              </a:lnSpc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E36414"/>
                </a:solidFill>
                <a:latin typeface="Calibri"/>
                <a:ea typeface="Calibri"/>
                <a:cs typeface="Calibri"/>
              </a:rPr>
              <a:t>▸  </a:t>
            </a:r>
            <a:r>
              <a:rPr lang="en-US" sz="125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Multilayer land (land/multilayer_land.py): 8-layer soil, Richards equation (mixed-form Picard, Van Genuchten / Clapp-Hornberger / Brooks-Corey / Campbell / PDI / Lu).</a:t>
            </a:r>
          </a:p>
          <a:p>
            <a:pPr>
              <a:lnSpc>
                <a:spcPct val="120000"/>
              </a:lnSpc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E36414"/>
                </a:solidFill>
                <a:latin typeface="Calibri"/>
                <a:ea typeface="Calibri"/>
                <a:cs typeface="Calibri"/>
              </a:rPr>
              <a:t>▸  </a:t>
            </a:r>
            <a:r>
              <a:rPr lang="en-US" sz="125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Soil thermal: Johansen diffusion · tridiagonal vertical solver.</a:t>
            </a:r>
          </a:p>
          <a:p>
            <a:pPr>
              <a:lnSpc>
                <a:spcPct val="120000"/>
              </a:lnSpc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E36414"/>
                </a:solidFill>
                <a:latin typeface="Calibri"/>
                <a:ea typeface="Calibri"/>
                <a:cs typeface="Calibri"/>
              </a:rPr>
              <a:t>▸  </a:t>
            </a:r>
            <a:r>
              <a:rPr lang="en-US" sz="125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Snow: accumulation / melt with age-dependent albedo and latitude-varying veg albedo.</a:t>
            </a:r>
          </a:p>
          <a:p>
            <a:pPr>
              <a:lnSpc>
                <a:spcPct val="120000"/>
              </a:lnSpc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E36414"/>
                </a:solidFill>
                <a:latin typeface="Calibri"/>
                <a:ea typeface="Calibri"/>
                <a:cs typeface="Calibri"/>
              </a:rPr>
              <a:t>▸  </a:t>
            </a:r>
            <a:r>
              <a:rPr lang="en-US" sz="125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Carbon cycle (DALEC-990): 6 pools (labile / foliage / root / wood / litter / SOM), LUE GPP + phenology.</a:t>
            </a:r>
          </a:p>
          <a:p>
            <a:pPr>
              <a:lnSpc>
                <a:spcPct val="120000"/>
              </a:lnSpc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E36414"/>
                </a:solidFill>
                <a:latin typeface="Calibri"/>
                <a:ea typeface="Calibri"/>
                <a:cs typeface="Calibri"/>
              </a:rPr>
              <a:t>▸  </a:t>
            </a:r>
            <a:r>
              <a:rPr lang="en-US" sz="125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PFT-weighted parameter providers: Constant · PFT · Neural — all differentiable.</a:t>
            </a:r>
          </a:p>
        </p:txBody>
      </p:sp>
      <p:sp>
        <p:nvSpPr>
          <p:cNvPr id="11" name="Rect 11"/>
          <p:cNvSpPr/>
          <p:nvPr/>
        </p:nvSpPr>
        <p:spPr>
          <a:xfrm>
            <a:off x="6812280" y="1554480"/>
            <a:ext cx="4876495" cy="452628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12" name="TextBox 12"/>
          <p:cNvSpPr txBox="1"/>
          <p:nvPr/>
        </p:nvSpPr>
        <p:spPr>
          <a:xfrm>
            <a:off x="7040880" y="1691640"/>
            <a:ext cx="4419295" cy="36576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E36414"/>
                </a:solidFill>
                <a:latin typeface="Georgia"/>
                <a:ea typeface="Georgia"/>
                <a:cs typeface="Georgia"/>
              </a:rPr>
              <a:t>8-layer soil column</a:t>
            </a:r>
          </a:p>
        </p:txBody>
      </p:sp>
      <p:sp>
        <p:nvSpPr>
          <p:cNvPr id="13" name="Rect 13"/>
          <p:cNvSpPr/>
          <p:nvPr/>
        </p:nvSpPr>
        <p:spPr>
          <a:xfrm>
            <a:off x="7360920" y="2194560"/>
            <a:ext cx="914400" cy="384048"/>
          </a:xfrm>
          <a:prstGeom prst="rect">
            <a:avLst/>
          </a:prstGeom>
          <a:solidFill>
            <a:srgbClr val="E7C89A"/>
          </a:solidFill>
          <a:ln>
            <a:noFill/>
          </a:ln>
        </p:spPr>
        <p:txBody>
          <a:bodyPr wrap="square" rtlCol="0" anchor="ctr" lIns="0" tIns="0" rIns="0" bIns="0">
            <a:normAutofit/>
          </a:bodyPr>
          <a:lstStyle/>
          <a:p>
            <a:pPr algn="ct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L1</a:t>
            </a:r>
          </a:p>
        </p:txBody>
      </p:sp>
      <p:sp>
        <p:nvSpPr>
          <p:cNvPr id="14" name="Rect 14"/>
          <p:cNvSpPr/>
          <p:nvPr/>
        </p:nvSpPr>
        <p:spPr>
          <a:xfrm>
            <a:off x="8321040" y="2194560"/>
            <a:ext cx="2819095" cy="384048"/>
          </a:xfrm>
          <a:prstGeom prst="rect">
            <a:avLst/>
          </a:prstGeom>
          <a:solidFill>
            <a:srgbClr val="E7C89A"/>
          </a:solidFill>
          <a:ln>
            <a:noFill/>
          </a:ln>
        </p:spPr>
        <p:txBody>
          <a:bodyPr wrap="square" rtlCol="0" anchor="ctr" lIns="0" tIns="0" rIns="0" bIns="0">
            <a:normAutofit/>
          </a:bodyPr>
          <a:lstStyle/>
          <a:p>
            <a:pPr algn="ct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0.00 – 0.02 m</a:t>
            </a:r>
          </a:p>
        </p:txBody>
      </p:sp>
      <p:sp>
        <p:nvSpPr>
          <p:cNvPr id="15" name="Rect 15"/>
          <p:cNvSpPr/>
          <p:nvPr/>
        </p:nvSpPr>
        <p:spPr>
          <a:xfrm>
            <a:off x="7360920" y="2596896"/>
            <a:ext cx="914400" cy="384048"/>
          </a:xfrm>
          <a:prstGeom prst="rect">
            <a:avLst/>
          </a:prstGeom>
          <a:solidFill>
            <a:srgbClr val="D3AC7F"/>
          </a:solidFill>
          <a:ln>
            <a:noFill/>
          </a:ln>
        </p:spPr>
        <p:txBody>
          <a:bodyPr wrap="square" rtlCol="0" anchor="ctr" lIns="0" tIns="0" rIns="0" bIns="0">
            <a:normAutofit/>
          </a:bodyPr>
          <a:lstStyle/>
          <a:p>
            <a:pPr algn="ct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L2</a:t>
            </a:r>
          </a:p>
        </p:txBody>
      </p:sp>
      <p:sp>
        <p:nvSpPr>
          <p:cNvPr id="16" name="Rect 16"/>
          <p:cNvSpPr/>
          <p:nvPr/>
        </p:nvSpPr>
        <p:spPr>
          <a:xfrm>
            <a:off x="8321040" y="2596896"/>
            <a:ext cx="2819095" cy="384048"/>
          </a:xfrm>
          <a:prstGeom prst="rect">
            <a:avLst/>
          </a:prstGeom>
          <a:solidFill>
            <a:srgbClr val="D3AC7F"/>
          </a:solidFill>
          <a:ln>
            <a:noFill/>
          </a:ln>
        </p:spPr>
        <p:txBody>
          <a:bodyPr wrap="square" rtlCol="0" anchor="ctr" lIns="0" tIns="0" rIns="0" bIns="0">
            <a:normAutofit/>
          </a:bodyPr>
          <a:lstStyle/>
          <a:p>
            <a:pPr algn="ct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0.02 – 0.05 m</a:t>
            </a:r>
          </a:p>
        </p:txBody>
      </p:sp>
      <p:sp>
        <p:nvSpPr>
          <p:cNvPr id="17" name="Rect 17"/>
          <p:cNvSpPr/>
          <p:nvPr/>
        </p:nvSpPr>
        <p:spPr>
          <a:xfrm>
            <a:off x="7360920" y="2999232"/>
            <a:ext cx="914400" cy="384048"/>
          </a:xfrm>
          <a:prstGeom prst="rect">
            <a:avLst/>
          </a:prstGeom>
          <a:solidFill>
            <a:srgbClr val="BC9166"/>
          </a:solidFill>
          <a:ln>
            <a:noFill/>
          </a:ln>
        </p:spPr>
        <p:txBody>
          <a:bodyPr wrap="square" rtlCol="0" anchor="ctr" lIns="0" tIns="0" rIns="0" bIns="0">
            <a:normAutofit/>
          </a:bodyPr>
          <a:lstStyle/>
          <a:p>
            <a:pPr algn="ct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L3</a:t>
            </a:r>
          </a:p>
        </p:txBody>
      </p:sp>
      <p:sp>
        <p:nvSpPr>
          <p:cNvPr id="18" name="Rect 18"/>
          <p:cNvSpPr/>
          <p:nvPr/>
        </p:nvSpPr>
        <p:spPr>
          <a:xfrm>
            <a:off x="8321040" y="2999232"/>
            <a:ext cx="2819095" cy="384048"/>
          </a:xfrm>
          <a:prstGeom prst="rect">
            <a:avLst/>
          </a:prstGeom>
          <a:solidFill>
            <a:srgbClr val="BC9166"/>
          </a:solidFill>
          <a:ln>
            <a:noFill/>
          </a:ln>
        </p:spPr>
        <p:txBody>
          <a:bodyPr wrap="square" rtlCol="0" anchor="ctr" lIns="0" tIns="0" rIns="0" bIns="0">
            <a:normAutofit/>
          </a:bodyPr>
          <a:lstStyle/>
          <a:p>
            <a:pPr algn="ct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0.05 – 0.10 m</a:t>
            </a:r>
          </a:p>
        </p:txBody>
      </p:sp>
      <p:sp>
        <p:nvSpPr>
          <p:cNvPr id="19" name="Rect 19"/>
          <p:cNvSpPr/>
          <p:nvPr/>
        </p:nvSpPr>
        <p:spPr>
          <a:xfrm>
            <a:off x="7360920" y="3401568"/>
            <a:ext cx="914400" cy="384048"/>
          </a:xfrm>
          <a:prstGeom prst="rect">
            <a:avLst/>
          </a:prstGeom>
          <a:solidFill>
            <a:srgbClr val="A6784E"/>
          </a:solidFill>
          <a:ln>
            <a:noFill/>
          </a:ln>
        </p:spPr>
        <p:txBody>
          <a:bodyPr wrap="square" rtlCol="0" anchor="ctr" lIns="0" tIns="0" rIns="0" bIns="0">
            <a:normAutofit/>
          </a:bodyPr>
          <a:lstStyle/>
          <a:p>
            <a:pPr algn="ct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L4</a:t>
            </a:r>
          </a:p>
        </p:txBody>
      </p:sp>
      <p:sp>
        <p:nvSpPr>
          <p:cNvPr id="20" name="Rect 20"/>
          <p:cNvSpPr/>
          <p:nvPr/>
        </p:nvSpPr>
        <p:spPr>
          <a:xfrm>
            <a:off x="8321040" y="3401568"/>
            <a:ext cx="2819095" cy="384048"/>
          </a:xfrm>
          <a:prstGeom prst="rect">
            <a:avLst/>
          </a:prstGeom>
          <a:solidFill>
            <a:srgbClr val="A6784E"/>
          </a:solidFill>
          <a:ln>
            <a:noFill/>
          </a:ln>
        </p:spPr>
        <p:txBody>
          <a:bodyPr wrap="square" rtlCol="0" anchor="ctr" lIns="0" tIns="0" rIns="0" bIns="0">
            <a:normAutofit/>
          </a:bodyPr>
          <a:lstStyle/>
          <a:p>
            <a:pPr algn="ct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0.10 – 0.20 m</a:t>
            </a:r>
          </a:p>
        </p:txBody>
      </p:sp>
      <p:sp>
        <p:nvSpPr>
          <p:cNvPr id="21" name="Rect 21"/>
          <p:cNvSpPr/>
          <p:nvPr/>
        </p:nvSpPr>
        <p:spPr>
          <a:xfrm>
            <a:off x="7360920" y="3803904"/>
            <a:ext cx="914400" cy="384048"/>
          </a:xfrm>
          <a:prstGeom prst="rect">
            <a:avLst/>
          </a:prstGeom>
          <a:solidFill>
            <a:srgbClr val="8B5F3A"/>
          </a:solidFill>
          <a:ln>
            <a:noFill/>
          </a:ln>
        </p:spPr>
        <p:txBody>
          <a:bodyPr wrap="square" rtlCol="0" anchor="ctr" lIns="0" tIns="0" rIns="0" bIns="0">
            <a:normAutofit/>
          </a:bodyPr>
          <a:lstStyle/>
          <a:p>
            <a:pPr algn="ct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L5</a:t>
            </a:r>
          </a:p>
        </p:txBody>
      </p:sp>
      <p:sp>
        <p:nvSpPr>
          <p:cNvPr id="22" name="Rect 22"/>
          <p:cNvSpPr/>
          <p:nvPr/>
        </p:nvSpPr>
        <p:spPr>
          <a:xfrm>
            <a:off x="8321040" y="3803904"/>
            <a:ext cx="2819095" cy="384048"/>
          </a:xfrm>
          <a:prstGeom prst="rect">
            <a:avLst/>
          </a:prstGeom>
          <a:solidFill>
            <a:srgbClr val="8B5F3A"/>
          </a:solidFill>
          <a:ln>
            <a:noFill/>
          </a:ln>
        </p:spPr>
        <p:txBody>
          <a:bodyPr wrap="square" rtlCol="0" anchor="ctr" lIns="0" tIns="0" rIns="0" bIns="0">
            <a:normAutofit/>
          </a:bodyPr>
          <a:lstStyle/>
          <a:p>
            <a:pPr algn="ct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0.20 – 0.40 m</a:t>
            </a:r>
          </a:p>
        </p:txBody>
      </p:sp>
      <p:sp>
        <p:nvSpPr>
          <p:cNvPr id="23" name="Rect 23"/>
          <p:cNvSpPr/>
          <p:nvPr/>
        </p:nvSpPr>
        <p:spPr>
          <a:xfrm>
            <a:off x="7360920" y="4206240"/>
            <a:ext cx="914400" cy="384048"/>
          </a:xfrm>
          <a:prstGeom prst="rect">
            <a:avLst/>
          </a:prstGeom>
          <a:solidFill>
            <a:srgbClr val="6F492A"/>
          </a:solidFill>
          <a:ln>
            <a:noFill/>
          </a:ln>
        </p:spPr>
        <p:txBody>
          <a:bodyPr wrap="square" rtlCol="0" anchor="ctr" lIns="0" tIns="0" rIns="0" bIns="0">
            <a:normAutofit/>
          </a:bodyPr>
          <a:lstStyle/>
          <a:p>
            <a:pPr algn="ct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L6</a:t>
            </a:r>
          </a:p>
        </p:txBody>
      </p:sp>
      <p:sp>
        <p:nvSpPr>
          <p:cNvPr id="24" name="Rect 24"/>
          <p:cNvSpPr/>
          <p:nvPr/>
        </p:nvSpPr>
        <p:spPr>
          <a:xfrm>
            <a:off x="8321040" y="4206240"/>
            <a:ext cx="2819095" cy="384048"/>
          </a:xfrm>
          <a:prstGeom prst="rect">
            <a:avLst/>
          </a:prstGeom>
          <a:solidFill>
            <a:srgbClr val="6F492A"/>
          </a:solidFill>
          <a:ln>
            <a:noFill/>
          </a:ln>
        </p:spPr>
        <p:txBody>
          <a:bodyPr wrap="square" rtlCol="0" anchor="ctr" lIns="0" tIns="0" rIns="0" bIns="0">
            <a:normAutofit/>
          </a:bodyPr>
          <a:lstStyle/>
          <a:p>
            <a:pPr algn="ct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0.40 – 0.80 m</a:t>
            </a:r>
          </a:p>
        </p:txBody>
      </p:sp>
      <p:sp>
        <p:nvSpPr>
          <p:cNvPr id="25" name="Rect 25"/>
          <p:cNvSpPr/>
          <p:nvPr/>
        </p:nvSpPr>
        <p:spPr>
          <a:xfrm>
            <a:off x="7360920" y="4608576"/>
            <a:ext cx="914400" cy="384048"/>
          </a:xfrm>
          <a:prstGeom prst="rect">
            <a:avLst/>
          </a:prstGeom>
          <a:solidFill>
            <a:srgbClr val="53361E"/>
          </a:solidFill>
          <a:ln>
            <a:noFill/>
          </a:ln>
        </p:spPr>
        <p:txBody>
          <a:bodyPr wrap="square" rtlCol="0" anchor="ctr" lIns="0" tIns="0" rIns="0" bIns="0">
            <a:normAutofit/>
          </a:bodyPr>
          <a:lstStyle/>
          <a:p>
            <a:pPr algn="ct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L7</a:t>
            </a:r>
          </a:p>
        </p:txBody>
      </p:sp>
      <p:sp>
        <p:nvSpPr>
          <p:cNvPr id="26" name="Rect 26"/>
          <p:cNvSpPr/>
          <p:nvPr/>
        </p:nvSpPr>
        <p:spPr>
          <a:xfrm>
            <a:off x="8321040" y="4608576"/>
            <a:ext cx="2819095" cy="384048"/>
          </a:xfrm>
          <a:prstGeom prst="rect">
            <a:avLst/>
          </a:prstGeom>
          <a:solidFill>
            <a:srgbClr val="53361E"/>
          </a:solidFill>
          <a:ln>
            <a:noFill/>
          </a:ln>
        </p:spPr>
        <p:txBody>
          <a:bodyPr wrap="square" rtlCol="0" anchor="ctr" lIns="0" tIns="0" rIns="0" bIns="0">
            <a:normAutofit/>
          </a:bodyPr>
          <a:lstStyle/>
          <a:p>
            <a:pPr algn="ct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0.80 – 1.60 m</a:t>
            </a:r>
          </a:p>
        </p:txBody>
      </p:sp>
      <p:sp>
        <p:nvSpPr>
          <p:cNvPr id="27" name="Rect 27"/>
          <p:cNvSpPr/>
          <p:nvPr/>
        </p:nvSpPr>
        <p:spPr>
          <a:xfrm>
            <a:off x="7360920" y="5010912"/>
            <a:ext cx="914400" cy="384048"/>
          </a:xfrm>
          <a:prstGeom prst="rect">
            <a:avLst/>
          </a:prstGeom>
          <a:solidFill>
            <a:srgbClr val="392514"/>
          </a:solidFill>
          <a:ln>
            <a:noFill/>
          </a:ln>
        </p:spPr>
        <p:txBody>
          <a:bodyPr wrap="square" rtlCol="0" anchor="ctr" lIns="0" tIns="0" rIns="0" bIns="0">
            <a:normAutofit/>
          </a:bodyPr>
          <a:lstStyle/>
          <a:p>
            <a:pPr algn="ct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L8</a:t>
            </a:r>
          </a:p>
        </p:txBody>
      </p:sp>
      <p:sp>
        <p:nvSpPr>
          <p:cNvPr id="28" name="Rect 28"/>
          <p:cNvSpPr/>
          <p:nvPr/>
        </p:nvSpPr>
        <p:spPr>
          <a:xfrm>
            <a:off x="8321040" y="5010912"/>
            <a:ext cx="2819095" cy="384048"/>
          </a:xfrm>
          <a:prstGeom prst="rect">
            <a:avLst/>
          </a:prstGeom>
          <a:solidFill>
            <a:srgbClr val="392514"/>
          </a:solidFill>
          <a:ln>
            <a:noFill/>
          </a:ln>
        </p:spPr>
        <p:txBody>
          <a:bodyPr wrap="square" rtlCol="0" anchor="ctr" lIns="0" tIns="0" rIns="0" bIns="0">
            <a:normAutofit/>
          </a:bodyPr>
          <a:lstStyle/>
          <a:p>
            <a:pPr algn="ct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1.60 – 3.20 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ect 3"/>
          <p:cNvSpPr/>
          <p:nvPr/>
        </p:nvSpPr>
        <p:spPr>
          <a:xfrm>
            <a:off x="502920" y="274320"/>
            <a:ext cx="384048" cy="54864"/>
          </a:xfrm>
          <a:prstGeom prst="rect">
            <a:avLst/>
          </a:prstGeom>
          <a:solidFill>
            <a:srgbClr val="E36414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Rect 4"/>
          <p:cNvSpPr/>
          <p:nvPr/>
        </p:nvSpPr>
        <p:spPr>
          <a:xfrm>
            <a:off x="1005840" y="219456"/>
            <a:ext cx="1783080" cy="219456"/>
          </a:xfrm>
          <a:prstGeom prst="rect">
            <a:avLst/>
          </a:prstGeom>
          <a:solidFill>
            <a:srgbClr val="0F4C5C"/>
          </a:solidFill>
          <a:ln>
            <a:noFill/>
          </a:ln>
        </p:spPr>
        <p:txBody>
          <a:bodyPr wrap="square" rtlCol="0" anchor="ctr" lIns="18288" tIns="18288" rIns="18288" bIns="18288">
            <a:normAutofit/>
          </a:bodyPr>
          <a:lstStyle/>
          <a:p>
            <a:pPr algn="ct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MODULARITY · ICE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02920" y="502920"/>
            <a:ext cx="11185855" cy="77724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0A3A47"/>
                </a:solidFill>
                <a:latin typeface="Georgia"/>
                <a:ea typeface="Georgia"/>
                <a:cs typeface="Georgia"/>
              </a:rPr>
              <a:t>Sea ice — thermo + EVP/mEVP rheology + ITD</a:t>
            </a:r>
          </a:p>
        </p:txBody>
      </p:sp>
      <p:sp>
        <p:nvSpPr>
          <p:cNvPr id="6" name="Rect 6"/>
          <p:cNvSpPr/>
          <p:nvPr/>
        </p:nvSpPr>
        <p:spPr>
          <a:xfrm>
            <a:off x="502920" y="1280160"/>
            <a:ext cx="11185855" cy="10973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502920" y="6492240"/>
            <a:ext cx="6400800" cy="27432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900" i="1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legoESM  ·  a differentiable Earth System Model in JAX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317175" y="6492240"/>
            <a:ext cx="1371600" cy="27432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 algn="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16 / 30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02920" y="1645920"/>
            <a:ext cx="5943600" cy="420624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E36414"/>
                </a:solidFill>
                <a:latin typeface="Calibri"/>
                <a:ea typeface="Calibri"/>
                <a:cs typeface="Calibri"/>
              </a:rPr>
              <a:t>▸  </a:t>
            </a:r>
            <a:r>
              <a:rPr lang="en-US" sz="125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Step function ice/sea_ice.py — modes: slab · free-drift · EVP (Hunke &amp; Dukowicz 1997) · mEVP (Bouillon 2013 / Kimmritz 2015).</a:t>
            </a:r>
          </a:p>
          <a:p>
            <a:pPr>
              <a:lnSpc>
                <a:spcPct val="120000"/>
              </a:lnSpc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E36414"/>
                </a:solidFill>
                <a:latin typeface="Calibri"/>
                <a:ea typeface="Calibri"/>
                <a:cs typeface="Calibri"/>
              </a:rPr>
              <a:t>▸  </a:t>
            </a:r>
            <a:r>
              <a:rPr lang="en-US" sz="125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Rheology: ice strength, strain rates, delta-deformation, VP stress, EVP / mEVP updates (ice/rheology.py, ice/dynamics.py).</a:t>
            </a:r>
          </a:p>
          <a:p>
            <a:pPr>
              <a:lnSpc>
                <a:spcPct val="120000"/>
              </a:lnSpc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E36414"/>
                </a:solidFill>
                <a:latin typeface="Calibri"/>
                <a:ea typeface="Calibri"/>
                <a:cs typeface="Calibri"/>
              </a:rPr>
              <a:t>▸  </a:t>
            </a:r>
            <a:r>
              <a:rPr lang="en-US" sz="125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Ice-thickness distribution (ITD): Lipscomb 2001 linear remapping for multi-category ice (ice/itd.py).</a:t>
            </a:r>
          </a:p>
          <a:p>
            <a:pPr>
              <a:lnSpc>
                <a:spcPct val="120000"/>
              </a:lnSpc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E36414"/>
                </a:solidFill>
                <a:latin typeface="Calibri"/>
                <a:ea typeface="Calibri"/>
                <a:cs typeface="Calibri"/>
              </a:rPr>
              <a:t>▸  </a:t>
            </a:r>
            <a:r>
              <a:rPr lang="en-US" sz="125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Transport: advection + boundary masking. Snow on ice + flooding (ice/snow.py).</a:t>
            </a:r>
          </a:p>
          <a:p>
            <a:pPr>
              <a:lnSpc>
                <a:spcPct val="120000"/>
              </a:lnSpc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E36414"/>
                </a:solidFill>
                <a:latin typeface="Calibri"/>
                <a:ea typeface="Calibri"/>
                <a:cs typeface="Calibri"/>
              </a:rPr>
              <a:t>▸  </a:t>
            </a:r>
            <a:r>
              <a:rPr lang="en-US" sz="125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Brine pockets + salt flux to ocean (ice/brine.py). Ridging (ice/ridging.py). Melt ponds (ice/ponds.py).</a:t>
            </a:r>
          </a:p>
          <a:p>
            <a:pPr>
              <a:lnSpc>
                <a:spcPct val="120000"/>
              </a:lnSpc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E36414"/>
                </a:solidFill>
                <a:latin typeface="Calibri"/>
                <a:ea typeface="Calibri"/>
                <a:cs typeface="Calibri"/>
              </a:rPr>
              <a:t>▸  </a:t>
            </a:r>
            <a:r>
              <a:rPr lang="en-US" sz="125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Delta-Eddington shortwave + Maykut–Untersteiner albedo (ice/shortwave.py).</a:t>
            </a:r>
          </a:p>
          <a:p>
            <a:pPr>
              <a:lnSpc>
                <a:spcPct val="120000"/>
              </a:lnSpc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E36414"/>
                </a:solidFill>
                <a:latin typeface="Calibri"/>
                <a:ea typeface="Calibri"/>
                <a:cs typeface="Calibri"/>
              </a:rPr>
              <a:t>▸  </a:t>
            </a:r>
            <a:r>
              <a:rPr lang="en-US" sz="125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Standalone test matrix: 15 benchmarks across thermo, dynamics, transport, ITD, integration.</a:t>
            </a:r>
          </a:p>
        </p:txBody>
      </p:sp>
      <p:sp>
        <p:nvSpPr>
          <p:cNvPr id="10" name="Rect 10"/>
          <p:cNvSpPr/>
          <p:nvPr/>
        </p:nvSpPr>
        <p:spPr>
          <a:xfrm>
            <a:off x="6720840" y="1645920"/>
            <a:ext cx="4967935" cy="44348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11" name="TextBox 11"/>
          <p:cNvSpPr txBox="1"/>
          <p:nvPr/>
        </p:nvSpPr>
        <p:spPr>
          <a:xfrm>
            <a:off x="6949440" y="1783080"/>
            <a:ext cx="4510735" cy="36576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E36414"/>
                </a:solidFill>
                <a:latin typeface="Georgia"/>
                <a:ea typeface="Georgia"/>
                <a:cs typeface="Georgia"/>
              </a:rPr>
              <a:t>Why EVP matters for AD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949440" y="2240280"/>
            <a:ext cx="4510735" cy="374904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30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Sea-ice rheology in CICE-style models is solved implicitly — elliptic problems are awkward to differentiate.</a:t>
            </a:r>
          </a:p>
          <a:p>
            <a:pPr>
              <a:spcAft>
                <a:spcPts val="400"/>
              </a:spcAft>
              <a:buNone/>
            </a:pPr>
            <a:endParaRPr lang="en-US"/>
          </a:p>
          <a:p>
            <a:pPr>
              <a:lnSpc>
                <a:spcPct val="130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EVP / mEVP recast the implicit problem as a sub-cycled explicit pseudo-time integration. Every sub-step is a pure JAX operation, so the whole rheology solver is naturally inside jax.lax.scan and inside jax.grad.</a:t>
            </a:r>
          </a:p>
          <a:p>
            <a:pPr>
              <a:spcAft>
                <a:spcPts val="400"/>
              </a:spcAft>
              <a:buNone/>
            </a:pPr>
            <a:endParaRPr lang="en-US"/>
          </a:p>
          <a:p>
            <a:pPr>
              <a:lnSpc>
                <a:spcPct val="130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Trade-off: more sub-steps for the same stiffness — but each is fully GPU-friendly and AD-friendly.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ect 3"/>
          <p:cNvSpPr/>
          <p:nvPr/>
        </p:nvSpPr>
        <p:spPr>
          <a:xfrm>
            <a:off x="502920" y="274320"/>
            <a:ext cx="384048" cy="54864"/>
          </a:xfrm>
          <a:prstGeom prst="rect">
            <a:avLst/>
          </a:prstGeom>
          <a:solidFill>
            <a:srgbClr val="E36414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Rect 4"/>
          <p:cNvSpPr/>
          <p:nvPr/>
        </p:nvSpPr>
        <p:spPr>
          <a:xfrm>
            <a:off x="1005840" y="219456"/>
            <a:ext cx="1783080" cy="219456"/>
          </a:xfrm>
          <a:prstGeom prst="rect">
            <a:avLst/>
          </a:prstGeom>
          <a:solidFill>
            <a:srgbClr val="0F4C5C"/>
          </a:solidFill>
          <a:ln>
            <a:noFill/>
          </a:ln>
        </p:spPr>
        <p:txBody>
          <a:bodyPr wrap="square" rtlCol="0" anchor="ctr" lIns="18288" tIns="18288" rIns="18288" bIns="18288">
            <a:normAutofit/>
          </a:bodyPr>
          <a:lstStyle/>
          <a:p>
            <a:pPr algn="ct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MODULARITY · COUPLER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02920" y="502920"/>
            <a:ext cx="11185855" cy="77724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0A3A47"/>
                </a:solidFill>
                <a:latin typeface="Georgia"/>
                <a:ea typeface="Georgia"/>
                <a:cs typeface="Georgia"/>
              </a:rPr>
              <a:t>Coupler and grids</a:t>
            </a:r>
          </a:p>
        </p:txBody>
      </p:sp>
      <p:sp>
        <p:nvSpPr>
          <p:cNvPr id="6" name="Rect 6"/>
          <p:cNvSpPr/>
          <p:nvPr/>
        </p:nvSpPr>
        <p:spPr>
          <a:xfrm>
            <a:off x="502920" y="1280160"/>
            <a:ext cx="11185855" cy="10973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502920" y="6492240"/>
            <a:ext cx="6400800" cy="27432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900" i="1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legoESM  ·  a differentiable Earth System Model in JAX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317175" y="6492240"/>
            <a:ext cx="1371600" cy="27432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 algn="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17 / 30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02920" y="1554480"/>
            <a:ext cx="5486400" cy="36576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A3A47"/>
                </a:solidFill>
                <a:latin typeface="Georgia"/>
                <a:ea typeface="Georgia"/>
                <a:cs typeface="Georgia"/>
              </a:rPr>
              <a:t>Coupler — tile-based surface exchange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02920" y="2011680"/>
            <a:ext cx="5486400" cy="237744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8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E36414"/>
                </a:solidFill>
                <a:latin typeface="Calibri"/>
                <a:ea typeface="Calibri"/>
                <a:cs typeface="Calibri"/>
              </a:rPr>
              <a:t>▸  </a:t>
            </a:r>
            <a:r>
              <a:rPr lang="en-US" sz="120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TileFractions (ocean / ice / land / lake) blended area-weighted in coupler/coupler.py</a:t>
            </a:r>
          </a:p>
          <a:p>
            <a:pPr>
              <a:lnSpc>
                <a:spcPct val="118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E36414"/>
                </a:solidFill>
                <a:latin typeface="Calibri"/>
                <a:ea typeface="Calibri"/>
                <a:cs typeface="Calibri"/>
              </a:rPr>
              <a:t>▸  </a:t>
            </a:r>
            <a:r>
              <a:rPr lang="en-US" sz="120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AtmToSurface / SurfaceToAtm / TileResponse typed pytrees</a:t>
            </a:r>
          </a:p>
          <a:p>
            <a:pPr>
              <a:lnSpc>
                <a:spcPct val="118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E36414"/>
                </a:solidFill>
                <a:latin typeface="Calibri"/>
                <a:ea typeface="Calibri"/>
                <a:cs typeface="Calibri"/>
              </a:rPr>
              <a:t>▸  </a:t>
            </a:r>
            <a:r>
              <a:rPr lang="en-US" sz="120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Bulk fluxes (coupler/bulk_flux.py): COARE 3.0 · Large–Yeager · fixed-z0 with AD-safe Monin–Obukhov iteration via lax.fori_loop</a:t>
            </a:r>
          </a:p>
          <a:p>
            <a:pPr>
              <a:lnSpc>
                <a:spcPct val="118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E36414"/>
                </a:solidFill>
                <a:latin typeface="Calibri"/>
                <a:ea typeface="Calibri"/>
                <a:cs typeface="Calibri"/>
              </a:rPr>
              <a:t>▸  </a:t>
            </a:r>
            <a:r>
              <a:rPr lang="en-US" sz="120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Surface energy: zenith-dependent ocean albedo (Briegleb 1992), snow age decay, sea-ice T feedback</a:t>
            </a:r>
          </a:p>
          <a:p>
            <a:pPr>
              <a:lnSpc>
                <a:spcPct val="118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E36414"/>
                </a:solidFill>
                <a:latin typeface="Calibri"/>
                <a:ea typeface="Calibri"/>
                <a:cs typeface="Calibri"/>
              </a:rPr>
              <a:t>▸  </a:t>
            </a:r>
            <a:r>
              <a:rPr lang="en-US" sz="120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FluxAccumulator with conservation-aware accumulation</a:t>
            </a:r>
          </a:p>
          <a:p>
            <a:pPr>
              <a:lnSpc>
                <a:spcPct val="118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E36414"/>
                </a:solidFill>
                <a:latin typeface="Calibri"/>
                <a:ea typeface="Calibri"/>
                <a:cs typeface="Calibri"/>
              </a:rPr>
              <a:t>▸  </a:t>
            </a:r>
            <a:r>
              <a:rPr lang="en-US" sz="120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Two-layer lake model (coupler/lake/) with surface coupling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263640" y="1554480"/>
            <a:ext cx="5425135" cy="36576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A3A47"/>
                </a:solidFill>
                <a:latin typeface="Georgia"/>
                <a:ea typeface="Georgia"/>
                <a:cs typeface="Georgia"/>
              </a:rPr>
              <a:t>Grids — geometry + halo + regrid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263640" y="2011680"/>
            <a:ext cx="5425135" cy="237744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8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E36414"/>
                </a:solidFill>
                <a:latin typeface="Calibri"/>
                <a:ea typeface="Calibri"/>
                <a:cs typeface="Calibri"/>
              </a:rPr>
              <a:t>▸  </a:t>
            </a:r>
            <a:r>
              <a:rPr lang="en-US" sz="120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Cubed-sphere C-D (Putman &amp; Lin 2007): corner-aware halo, FV3 D-grid corner fill, edge blending</a:t>
            </a:r>
          </a:p>
          <a:p>
            <a:pPr>
              <a:lnSpc>
                <a:spcPct val="118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E36414"/>
                </a:solidFill>
                <a:latin typeface="Calibri"/>
                <a:ea typeface="Calibri"/>
                <a:cs typeface="Calibri"/>
              </a:rPr>
              <a:t>▸  </a:t>
            </a:r>
            <a:r>
              <a:rPr lang="en-US" sz="120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Lat-lon C-grid (regular · Mercator · regional), Tripolar eORCA1 with pole-fold halo descriptor</a:t>
            </a:r>
          </a:p>
          <a:p>
            <a:pPr>
              <a:lnSpc>
                <a:spcPct val="118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E36414"/>
                </a:solidFill>
                <a:latin typeface="Calibri"/>
                <a:ea typeface="Calibri"/>
                <a:cs typeface="Calibri"/>
              </a:rPr>
              <a:t>▸  </a:t>
            </a:r>
            <a:r>
              <a:rPr lang="en-US" sz="120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Gaussian + spherical-harmonic transforms (T21 / T42 / …) — pinned to CPU on Apple Silicon</a:t>
            </a:r>
          </a:p>
          <a:p>
            <a:pPr>
              <a:lnSpc>
                <a:spcPct val="118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E36414"/>
                </a:solidFill>
                <a:latin typeface="Calibri"/>
                <a:ea typeface="Calibri"/>
                <a:cs typeface="Calibri"/>
              </a:rPr>
              <a:t>▸  </a:t>
            </a:r>
            <a:r>
              <a:rPr lang="en-US" sz="120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MPAS Voronoi SCVT: recursive bisection + Lloyd; LSQ edge-to-cell + Thuburn kite-area TRiSK</a:t>
            </a:r>
          </a:p>
          <a:p>
            <a:pPr>
              <a:lnSpc>
                <a:spcPct val="118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E36414"/>
                </a:solidFill>
                <a:latin typeface="Calibri"/>
                <a:ea typeface="Calibri"/>
                <a:cs typeface="Calibri"/>
              </a:rPr>
              <a:t>▸  </a:t>
            </a:r>
            <a:r>
              <a:rPr lang="en-US" sz="120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Vertical: hybrid sigma-pressure L20–L60, sinh stretching</a:t>
            </a:r>
          </a:p>
          <a:p>
            <a:pPr>
              <a:lnSpc>
                <a:spcPct val="118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E36414"/>
                </a:solidFill>
                <a:latin typeface="Calibri"/>
                <a:ea typeface="Calibri"/>
                <a:cs typeface="Calibri"/>
              </a:rPr>
              <a:t>▸  </a:t>
            </a:r>
            <a:r>
              <a:rPr lang="en-US" sz="120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Native 4D halo: one MPI message per exchange across all levels</a:t>
            </a:r>
          </a:p>
        </p:txBody>
      </p:sp>
      <p:sp>
        <p:nvSpPr>
          <p:cNvPr id="13" name="Rect 13"/>
          <p:cNvSpPr/>
          <p:nvPr/>
        </p:nvSpPr>
        <p:spPr>
          <a:xfrm>
            <a:off x="502920" y="4526280"/>
            <a:ext cx="11185855" cy="10973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Box 14"/>
          <p:cNvSpPr txBox="1"/>
          <p:nvPr/>
        </p:nvSpPr>
        <p:spPr>
          <a:xfrm>
            <a:off x="502920" y="4617720"/>
            <a:ext cx="11185855" cy="36576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E36414"/>
                </a:solidFill>
                <a:latin typeface="Georgia"/>
                <a:ea typeface="Georgia"/>
                <a:cs typeface="Georgia"/>
              </a:rPr>
              <a:t>Shared operators (core/)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02920" y="4983480"/>
            <a:ext cx="11185855" cy="128016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core/operators_cdgrid.py (FV3 PPM + divergence damping) is reused by both atmosphere and ocean cubed-sphere cores. core/operators_fv_latlon.py / operators_fv_latlon_3d.py serve all lat-lon FV cores. core/operators_voronoi.py serves MPAS atmosphere + ocean. core/fv_tp_2d.py is the canonical PPM transport step. Spectral and FC-Gram operators live in core/spectral.py and core/fc_gram.py.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ect 3"/>
          <p:cNvSpPr/>
          <p:nvPr/>
        </p:nvSpPr>
        <p:spPr>
          <a:xfrm>
            <a:off x="502920" y="274320"/>
            <a:ext cx="384048" cy="54864"/>
          </a:xfrm>
          <a:prstGeom prst="rect">
            <a:avLst/>
          </a:prstGeom>
          <a:solidFill>
            <a:srgbClr val="E36414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Rect 4"/>
          <p:cNvSpPr/>
          <p:nvPr/>
        </p:nvSpPr>
        <p:spPr>
          <a:xfrm>
            <a:off x="1005840" y="219456"/>
            <a:ext cx="1783080" cy="219456"/>
          </a:xfrm>
          <a:prstGeom prst="rect">
            <a:avLst/>
          </a:prstGeom>
          <a:solidFill>
            <a:srgbClr val="0F4C5C"/>
          </a:solidFill>
          <a:ln>
            <a:noFill/>
          </a:ln>
        </p:spPr>
        <p:txBody>
          <a:bodyPr wrap="square" rtlCol="0" anchor="ctr" lIns="18288" tIns="18288" rIns="18288" bIns="18288">
            <a:normAutofit/>
          </a:bodyPr>
          <a:lstStyle/>
          <a:p>
            <a:pPr algn="ct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RUNTIME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02920" y="502920"/>
            <a:ext cx="11185855" cy="77724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0A3A47"/>
                </a:solidFill>
                <a:latin typeface="Georgia"/>
                <a:ea typeface="Georgia"/>
                <a:cs typeface="Georgia"/>
              </a:rPr>
              <a:t>Parallel runtime — MPI + SPMD + ensemble</a:t>
            </a:r>
          </a:p>
        </p:txBody>
      </p:sp>
      <p:sp>
        <p:nvSpPr>
          <p:cNvPr id="6" name="Rect 6"/>
          <p:cNvSpPr/>
          <p:nvPr/>
        </p:nvSpPr>
        <p:spPr>
          <a:xfrm>
            <a:off x="502920" y="1280160"/>
            <a:ext cx="11185855" cy="10973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502920" y="6492240"/>
            <a:ext cx="6400800" cy="27432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900" i="1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legoESM  ·  a differentiable Earth System Model in JAX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317175" y="6492240"/>
            <a:ext cx="1371600" cy="27432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 algn="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18 / 30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02920" y="1554480"/>
            <a:ext cx="6035040" cy="36576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A3A47"/>
                </a:solidFill>
                <a:latin typeface="Georgia"/>
                <a:ea typeface="Georgia"/>
                <a:cs typeface="Georgia"/>
              </a:rPr>
              <a:t>ParallelRuntime.create() — one entry point</a:t>
            </a:r>
          </a:p>
        </p:txBody>
      </p:sp>
      <p:sp>
        <p:nvSpPr>
          <p:cNvPr id="10" name="Rect 10"/>
          <p:cNvSpPr/>
          <p:nvPr/>
        </p:nvSpPr>
        <p:spPr>
          <a:xfrm>
            <a:off x="502920" y="2011680"/>
            <a:ext cx="1554480" cy="384048"/>
          </a:xfrm>
          <a:prstGeom prst="rect">
            <a:avLst/>
          </a:prstGeom>
          <a:solidFill>
            <a:srgbClr val="0F4C5C"/>
          </a:solidFill>
          <a:ln>
            <a:noFill/>
          </a:ln>
        </p:spPr>
        <p:txBody>
          <a:bodyPr wrap="square" rtlCol="0" anchor="ctr" lIns="0" tIns="0" rIns="0" bIns="0">
            <a:normAutofit/>
          </a:bodyPr>
          <a:lstStyle/>
          <a:p>
            <a:pPr algn="ct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serial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194560" y="2011680"/>
            <a:ext cx="4251960" cy="384048"/>
          </a:xfrm>
          <a:prstGeom prst="rect">
            <a:avLst/>
          </a:prstGeom>
          <a:noFill/>
        </p:spPr>
        <p:txBody>
          <a:bodyPr wrap="square" rtlCol="0" anchor="ctr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1 rank · 1 device — identity ops</a:t>
            </a:r>
          </a:p>
        </p:txBody>
      </p:sp>
      <p:sp>
        <p:nvSpPr>
          <p:cNvPr id="12" name="Rect 12"/>
          <p:cNvSpPr/>
          <p:nvPr/>
        </p:nvSpPr>
        <p:spPr>
          <a:xfrm>
            <a:off x="502920" y="2514600"/>
            <a:ext cx="1554480" cy="384048"/>
          </a:xfrm>
          <a:prstGeom prst="rect">
            <a:avLst/>
          </a:prstGeom>
          <a:solidFill>
            <a:srgbClr val="0F4C5C"/>
          </a:solidFill>
          <a:ln>
            <a:noFill/>
          </a:ln>
        </p:spPr>
        <p:txBody>
          <a:bodyPr wrap="square" rtlCol="0" anchor="ctr" lIns="0" tIns="0" rIns="0" bIns="0">
            <a:normAutofit/>
          </a:bodyPr>
          <a:lstStyle/>
          <a:p>
            <a:pPr algn="ct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multi_device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194560" y="2514600"/>
            <a:ext cx="4251960" cy="384048"/>
          </a:xfrm>
          <a:prstGeom prst="rect">
            <a:avLst/>
          </a:prstGeom>
          <a:noFill/>
        </p:spPr>
        <p:txBody>
          <a:bodyPr wrap="square" rtlCol="0" anchor="ctr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1 rank · N devices — JAX SPMD halos + local reductions</a:t>
            </a:r>
          </a:p>
        </p:txBody>
      </p:sp>
      <p:sp>
        <p:nvSpPr>
          <p:cNvPr id="14" name="Rect 14"/>
          <p:cNvSpPr/>
          <p:nvPr/>
        </p:nvSpPr>
        <p:spPr>
          <a:xfrm>
            <a:off x="502920" y="3017520"/>
            <a:ext cx="1554480" cy="384048"/>
          </a:xfrm>
          <a:prstGeom prst="rect">
            <a:avLst/>
          </a:prstGeom>
          <a:solidFill>
            <a:srgbClr val="0F4C5C"/>
          </a:solidFill>
          <a:ln>
            <a:noFill/>
          </a:ln>
        </p:spPr>
        <p:txBody>
          <a:bodyPr wrap="square" rtlCol="0" anchor="ctr" lIns="0" tIns="0" rIns="0" bIns="0">
            <a:normAutofit/>
          </a:bodyPr>
          <a:lstStyle/>
          <a:p>
            <a:pPr algn="ct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mpi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194560" y="3017520"/>
            <a:ext cx="4251960" cy="384048"/>
          </a:xfrm>
          <a:prstGeom prst="rect">
            <a:avLst/>
          </a:prstGeom>
          <a:noFill/>
        </p:spPr>
        <p:txBody>
          <a:bodyPr wrap="square" rtlCol="0" anchor="ctr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N ranks · 1 device each — MPI halos + MPI reductions</a:t>
            </a:r>
          </a:p>
        </p:txBody>
      </p:sp>
      <p:sp>
        <p:nvSpPr>
          <p:cNvPr id="16" name="Rect 16"/>
          <p:cNvSpPr/>
          <p:nvPr/>
        </p:nvSpPr>
        <p:spPr>
          <a:xfrm>
            <a:off x="502920" y="3520440"/>
            <a:ext cx="1554480" cy="384048"/>
          </a:xfrm>
          <a:prstGeom prst="rect">
            <a:avLst/>
          </a:prstGeom>
          <a:solidFill>
            <a:srgbClr val="0F4C5C"/>
          </a:solidFill>
          <a:ln>
            <a:noFill/>
          </a:ln>
        </p:spPr>
        <p:txBody>
          <a:bodyPr wrap="square" rtlCol="0" anchor="ctr" lIns="0" tIns="0" rIns="0" bIns="0">
            <a:normAutofit/>
          </a:bodyPr>
          <a:lstStyle/>
          <a:p>
            <a:pPr algn="ct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hybrid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194560" y="3520440"/>
            <a:ext cx="4251960" cy="384048"/>
          </a:xfrm>
          <a:prstGeom prst="rect">
            <a:avLst/>
          </a:prstGeom>
          <a:noFill/>
        </p:spPr>
        <p:txBody>
          <a:bodyPr wrap="square" rtlCol="0" anchor="ctr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N ranks × M devices — MPI between ranks + SPMD within rank</a:t>
            </a:r>
          </a:p>
        </p:txBody>
      </p:sp>
      <p:sp>
        <p:nvSpPr>
          <p:cNvPr id="18" name="Rect 18"/>
          <p:cNvSpPr/>
          <p:nvPr/>
        </p:nvSpPr>
        <p:spPr>
          <a:xfrm>
            <a:off x="6812280" y="1554480"/>
            <a:ext cx="4876495" cy="452628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19" name="TextBox 19"/>
          <p:cNvSpPr txBox="1"/>
          <p:nvPr/>
        </p:nvSpPr>
        <p:spPr>
          <a:xfrm>
            <a:off x="7040880" y="1691640"/>
            <a:ext cx="4419295" cy="36576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E36414"/>
                </a:solidFill>
                <a:latin typeface="Georgia"/>
                <a:ea typeface="Georgia"/>
                <a:cs typeface="Georgia"/>
              </a:rPr>
              <a:t>AD-safe halo + reductions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040880" y="2103120"/>
            <a:ext cx="4419295" cy="393192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20000"/>
              </a:lnSpc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E36414"/>
                </a:solidFill>
                <a:latin typeface="Calibri"/>
                <a:ea typeface="Calibri"/>
                <a:cs typeface="Calibri"/>
              </a:rPr>
              <a:t>▸  </a:t>
            </a:r>
            <a:r>
              <a:rPr lang="en-US" sz="115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custom_vjp wrapper around mpi4jax.sendrecv: backward swaps source / dest endpoints</a:t>
            </a:r>
          </a:p>
          <a:p>
            <a:pPr>
              <a:lnSpc>
                <a:spcPct val="120000"/>
              </a:lnSpc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E36414"/>
                </a:solidFill>
                <a:latin typeface="Calibri"/>
                <a:ea typeface="Calibri"/>
                <a:cs typeface="Calibri"/>
              </a:rPr>
              <a:t>▸  </a:t>
            </a:r>
            <a:r>
              <a:rPr lang="en-US" sz="115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Differentiable reductions: only allreduce(SUM); max / min / allgather / bcast diagnostic-only</a:t>
            </a:r>
          </a:p>
          <a:p>
            <a:pPr>
              <a:lnSpc>
                <a:spcPct val="120000"/>
              </a:lnSpc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E36414"/>
                </a:solidFill>
                <a:latin typeface="Calibri"/>
                <a:ea typeface="Calibri"/>
                <a:cs typeface="Calibri"/>
              </a:rPr>
              <a:t>▸  </a:t>
            </a:r>
            <a:r>
              <a:rPr lang="en-US" sz="115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Native 4D halo: one MPI message per exchange — not vmap(pad_halo)</a:t>
            </a:r>
          </a:p>
          <a:p>
            <a:pPr>
              <a:lnSpc>
                <a:spcPct val="120000"/>
              </a:lnSpc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E36414"/>
                </a:solidFill>
                <a:latin typeface="Calibri"/>
                <a:ea typeface="Calibri"/>
                <a:cs typeface="Calibri"/>
              </a:rPr>
              <a:t>▸  </a:t>
            </a:r>
            <a:r>
              <a:rPr lang="en-US" sz="115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Async halo + compute overlap (parallel/async_halo.py)</a:t>
            </a:r>
          </a:p>
          <a:p>
            <a:pPr>
              <a:lnSpc>
                <a:spcPct val="120000"/>
              </a:lnSpc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E36414"/>
                </a:solidFill>
                <a:latin typeface="Calibri"/>
                <a:ea typeface="Calibri"/>
                <a:cs typeface="Calibri"/>
              </a:rPr>
              <a:t>▸  </a:t>
            </a:r>
            <a:r>
              <a:rPr lang="en-US" sz="115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Voronoi RCB + METIS partitioning · VoronoiHaloExchange</a:t>
            </a:r>
          </a:p>
          <a:p>
            <a:pPr>
              <a:lnSpc>
                <a:spcPct val="120000"/>
              </a:lnSpc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E36414"/>
                </a:solidFill>
                <a:latin typeface="Calibri"/>
                <a:ea typeface="Calibri"/>
                <a:cs typeface="Calibri"/>
              </a:rPr>
              <a:t>▸  </a:t>
            </a:r>
            <a:r>
              <a:rPr lang="en-US" sz="115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Ensemble parallelism: vmap over ensemble dim × scan over time + checkpoint</a:t>
            </a:r>
          </a:p>
          <a:p>
            <a:pPr>
              <a:lnSpc>
                <a:spcPct val="120000"/>
              </a:lnSpc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E36414"/>
                </a:solidFill>
                <a:latin typeface="Calibri"/>
                <a:ea typeface="Calibri"/>
                <a:cs typeface="Calibri"/>
              </a:rPr>
              <a:t>▸  </a:t>
            </a:r>
            <a:r>
              <a:rPr lang="en-US" sz="115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Persistent JAX compile cache via LEGOESM_JAX_CACHE_DIR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3A47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731520" y="1371600"/>
            <a:ext cx="3657600" cy="228600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8000" b="1" dirty="0">
                <a:solidFill>
                  <a:srgbClr val="E36414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4" name="Rect 4"/>
          <p:cNvSpPr/>
          <p:nvPr/>
        </p:nvSpPr>
        <p:spPr>
          <a:xfrm>
            <a:off x="4572000" y="1920240"/>
            <a:ext cx="36576" cy="2377440"/>
          </a:xfrm>
          <a:prstGeom prst="rect">
            <a:avLst/>
          </a:prstGeom>
          <a:solidFill>
            <a:srgbClr val="E36414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extBox 5"/>
          <p:cNvSpPr txBox="1"/>
          <p:nvPr/>
        </p:nvSpPr>
        <p:spPr>
          <a:xfrm>
            <a:off x="4937760" y="1828800"/>
            <a:ext cx="6858000" cy="109728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4400" b="1" dirty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Applications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937760" y="2926080"/>
            <a:ext cx="6858000" cy="228600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1800" dirty="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Differentiable physics tuning · AIMIP · NeuralGCM-style hybrids · SFNO S2S · RCE · Held-Suarez · Drake passage / DINO / OMIP-2.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02920" y="6400800"/>
            <a:ext cx="7315200" cy="27432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000" i="1" dirty="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legoESM  ·  Pierre Gentine et al.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ect 3"/>
          <p:cNvSpPr/>
          <p:nvPr/>
        </p:nvSpPr>
        <p:spPr>
          <a:xfrm>
            <a:off x="502920" y="274320"/>
            <a:ext cx="384048" cy="54864"/>
          </a:xfrm>
          <a:prstGeom prst="rect">
            <a:avLst/>
          </a:prstGeom>
          <a:solidFill>
            <a:srgbClr val="E36414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Rect 4"/>
          <p:cNvSpPr/>
          <p:nvPr/>
        </p:nvSpPr>
        <p:spPr>
          <a:xfrm>
            <a:off x="1005840" y="219456"/>
            <a:ext cx="1783080" cy="219456"/>
          </a:xfrm>
          <a:prstGeom prst="rect">
            <a:avLst/>
          </a:prstGeom>
          <a:solidFill>
            <a:srgbClr val="0F4C5C"/>
          </a:solidFill>
          <a:ln>
            <a:noFill/>
          </a:ln>
        </p:spPr>
        <p:txBody>
          <a:bodyPr wrap="square" rtlCol="0" anchor="ctr" lIns="18288" tIns="18288" rIns="18288" bIns="18288">
            <a:normAutofit/>
          </a:bodyPr>
          <a:lstStyle/>
          <a:p>
            <a:pPr algn="ct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APPLICATIONS · AMIP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02920" y="502920"/>
            <a:ext cx="11185855" cy="77724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0A3A47"/>
                </a:solidFill>
                <a:latin typeface="Georgia"/>
                <a:ea typeface="Georgia"/>
                <a:cs typeface="Georgia"/>
              </a:rPr>
              <a:t>AMIP — RRTMGP + Sundqvist + SBM across grids</a:t>
            </a:r>
          </a:p>
        </p:txBody>
      </p:sp>
      <p:sp>
        <p:nvSpPr>
          <p:cNvPr id="6" name="Rect 6"/>
          <p:cNvSpPr/>
          <p:nvPr/>
        </p:nvSpPr>
        <p:spPr>
          <a:xfrm>
            <a:off x="502920" y="1280160"/>
            <a:ext cx="11185855" cy="10973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502920" y="6492240"/>
            <a:ext cx="6400800" cy="27432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900" i="1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legoESM  ·  a differentiable Earth System Model in JAX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317175" y="6492240"/>
            <a:ext cx="1371600" cy="27432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 algn="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20 / 30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02920" y="1554480"/>
            <a:ext cx="5029200" cy="36576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A3A47"/>
                </a:solidFill>
                <a:latin typeface="Georgia"/>
                <a:ea typeface="Georgia"/>
                <a:cs typeface="Georgia"/>
              </a:rPr>
              <a:t>What's in the production AMIP CMIP6 deck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02920" y="1965960"/>
            <a:ext cx="5029200" cy="411480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8000"/>
              </a:lnSpc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E36414"/>
                </a:solidFill>
                <a:latin typeface="Calibri"/>
                <a:ea typeface="Calibri"/>
                <a:cs typeface="Calibri"/>
              </a:rPr>
              <a:t>▸  </a:t>
            </a:r>
            <a:r>
              <a:rPr lang="en-US" sz="125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Cubed-sphere C48 + lat-lon C144 production grids; Gaussian T42 + MPAS ico6 smoke-tested</a:t>
            </a:r>
          </a:p>
          <a:p>
            <a:pPr>
              <a:lnSpc>
                <a:spcPct val="118000"/>
              </a:lnSpc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E36414"/>
                </a:solidFill>
                <a:latin typeface="Calibri"/>
                <a:ea typeface="Calibri"/>
                <a:cs typeface="Calibri"/>
              </a:rPr>
              <a:t>▸  </a:t>
            </a:r>
            <a:r>
              <a:rPr lang="en-US" sz="125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Radiation: RRTMGP (LW g128, SW g112) with bundled jax-rrtmgp lookup tables</a:t>
            </a:r>
          </a:p>
          <a:p>
            <a:pPr>
              <a:lnSpc>
                <a:spcPct val="118000"/>
              </a:lnSpc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E36414"/>
                </a:solidFill>
                <a:latin typeface="Calibri"/>
                <a:ea typeface="Calibri"/>
                <a:cs typeface="Calibri"/>
              </a:rPr>
              <a:t>▸  </a:t>
            </a:r>
            <a:r>
              <a:rPr lang="en-US" sz="125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Clouds: Sundqvist large-scale + cloud fraction</a:t>
            </a:r>
          </a:p>
          <a:p>
            <a:pPr>
              <a:lnSpc>
                <a:spcPct val="118000"/>
              </a:lnSpc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E36414"/>
                </a:solidFill>
                <a:latin typeface="Calibri"/>
                <a:ea typeface="Calibri"/>
                <a:cs typeface="Calibri"/>
              </a:rPr>
              <a:t>▸  </a:t>
            </a:r>
            <a:r>
              <a:rPr lang="en-US" sz="125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Convection: SBM (Frierson Betts-Miller), AIMIP-tunable</a:t>
            </a:r>
          </a:p>
          <a:p>
            <a:pPr>
              <a:lnSpc>
                <a:spcPct val="118000"/>
              </a:lnSpc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E36414"/>
                </a:solidFill>
                <a:latin typeface="Calibri"/>
                <a:ea typeface="Calibri"/>
                <a:cs typeface="Calibri"/>
              </a:rPr>
              <a:t>▸  </a:t>
            </a:r>
            <a:r>
              <a:rPr lang="en-US" sz="125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Turbulence: Louis surface layer + bulk Ri PBL</a:t>
            </a:r>
          </a:p>
          <a:p>
            <a:pPr>
              <a:lnSpc>
                <a:spcPct val="118000"/>
              </a:lnSpc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E36414"/>
                </a:solidFill>
                <a:latin typeface="Calibri"/>
                <a:ea typeface="Calibri"/>
                <a:cs typeface="Calibri"/>
              </a:rPr>
              <a:t>▸  </a:t>
            </a:r>
            <a:r>
              <a:rPr lang="en-US" sz="125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Forcing: amip_forcing — SST, sea-ice, GHG, ozone, aerosol, solar</a:t>
            </a:r>
          </a:p>
          <a:p>
            <a:pPr>
              <a:lnSpc>
                <a:spcPct val="118000"/>
              </a:lnSpc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E36414"/>
                </a:solidFill>
                <a:latin typeface="Calibri"/>
                <a:ea typeface="Calibri"/>
                <a:cs typeface="Calibri"/>
              </a:rPr>
              <a:t>▸  </a:t>
            </a:r>
            <a:r>
              <a:rPr lang="en-US" sz="125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CMOR-compliant output (CF-1.8): Amon · Lmon · Omon · Oyr · Ofx · SImon · SIyr</a:t>
            </a:r>
          </a:p>
        </p:txBody>
      </p:sp>
      <p:sp>
        <p:nvSpPr>
          <p:cNvPr id="11" name="Rect 11"/>
          <p:cNvSpPr/>
          <p:nvPr/>
        </p:nvSpPr>
        <p:spPr>
          <a:xfrm>
            <a:off x="5806440" y="1554480"/>
            <a:ext cx="5882335" cy="402336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12" name="TextBox 12"/>
          <p:cNvSpPr txBox="1"/>
          <p:nvPr/>
        </p:nvSpPr>
        <p:spPr>
          <a:xfrm>
            <a:off x="5806440" y="3383280"/>
            <a:ext cx="5882335" cy="36576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 algn="ct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[figure missing: amip_snapshots.png]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806440" y="5623560"/>
            <a:ext cx="5882335" cy="27432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 algn="ct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000" i="1" dirty="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Held-Suarez + gray radiation, FV cubed-sphere C16, 10-day rollout — AMIP-style diagnostic stack.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ect 3"/>
          <p:cNvSpPr/>
          <p:nvPr/>
        </p:nvSpPr>
        <p:spPr>
          <a:xfrm>
            <a:off x="502920" y="274320"/>
            <a:ext cx="384048" cy="54864"/>
          </a:xfrm>
          <a:prstGeom prst="rect">
            <a:avLst/>
          </a:prstGeom>
          <a:solidFill>
            <a:srgbClr val="E36414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Rect 4"/>
          <p:cNvSpPr/>
          <p:nvPr/>
        </p:nvSpPr>
        <p:spPr>
          <a:xfrm>
            <a:off x="1005840" y="219456"/>
            <a:ext cx="1783080" cy="219456"/>
          </a:xfrm>
          <a:prstGeom prst="rect">
            <a:avLst/>
          </a:prstGeom>
          <a:solidFill>
            <a:srgbClr val="0F4C5C"/>
          </a:solidFill>
          <a:ln>
            <a:noFill/>
          </a:ln>
        </p:spPr>
        <p:txBody>
          <a:bodyPr wrap="square" rtlCol="0" anchor="ctr" lIns="18288" tIns="18288" rIns="18288" bIns="18288">
            <a:normAutofit/>
          </a:bodyPr>
          <a:lstStyle/>
          <a:p>
            <a:pPr algn="ct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APPLICATIONS · VALIDATION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02920" y="502920"/>
            <a:ext cx="11185855" cy="77724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0A3A47"/>
                </a:solidFill>
                <a:latin typeface="Georgia"/>
                <a:ea typeface="Georgia"/>
                <a:cs typeface="Georgia"/>
              </a:rPr>
              <a:t>Held-Suarez aquaplanet across cores</a:t>
            </a:r>
          </a:p>
        </p:txBody>
      </p:sp>
      <p:sp>
        <p:nvSpPr>
          <p:cNvPr id="6" name="Rect 6"/>
          <p:cNvSpPr/>
          <p:nvPr/>
        </p:nvSpPr>
        <p:spPr>
          <a:xfrm>
            <a:off x="502920" y="1280160"/>
            <a:ext cx="11185855" cy="10973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502920" y="6492240"/>
            <a:ext cx="6400800" cy="27432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900" i="1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legoESM  ·  a differentiable Earth System Model in JAX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317175" y="6492240"/>
            <a:ext cx="1371600" cy="27432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 algn="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21 / 30</a:t>
            </a:r>
          </a:p>
        </p:txBody>
      </p:sp>
      <p:sp>
        <p:nvSpPr>
          <p:cNvPr id="9" name="Rect 9"/>
          <p:cNvSpPr/>
          <p:nvPr/>
        </p:nvSpPr>
        <p:spPr>
          <a:xfrm>
            <a:off x="502920" y="1508760"/>
            <a:ext cx="11185855" cy="32918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10" name="TextBox 10"/>
          <p:cNvSpPr txBox="1"/>
          <p:nvPr/>
        </p:nvSpPr>
        <p:spPr>
          <a:xfrm>
            <a:off x="502920" y="2971800"/>
            <a:ext cx="11185855" cy="36576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 algn="ct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[figure missing: field_snapshots.png]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02920" y="4846320"/>
            <a:ext cx="11185855" cy="27432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 algn="ct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000" i="1" dirty="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Held-Suarez 1994 forcing — spectral T21 snapshots showing the developed eddy-driven jet.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02920" y="5074920"/>
            <a:ext cx="11185855" cy="137160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8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E36414"/>
                </a:solidFill>
                <a:latin typeface="Calibri"/>
                <a:ea typeface="Calibri"/>
                <a:cs typeface="Calibri"/>
              </a:rPr>
              <a:t>▸  </a:t>
            </a:r>
            <a:r>
              <a:rPr lang="en-US" sz="120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Same forcing, three dynamical cores: FV A-grid · FV C-D grid · spectral — all reach the canonical zonal-mean climatology.</a:t>
            </a:r>
          </a:p>
          <a:p>
            <a:pPr>
              <a:lnSpc>
                <a:spcPct val="118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E36414"/>
                </a:solidFill>
                <a:latin typeface="Calibri"/>
                <a:ea typeface="Calibri"/>
                <a:cs typeface="Calibri"/>
              </a:rPr>
              <a:t>▸  </a:t>
            </a:r>
            <a:r>
              <a:rPr lang="en-US" sz="120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Energy budget closure verified; jet latitude, eddy momentum flux, and EKE within published Held-Suarez bands.</a:t>
            </a:r>
          </a:p>
          <a:p>
            <a:pPr>
              <a:lnSpc>
                <a:spcPct val="118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E36414"/>
                </a:solidFill>
                <a:latin typeface="Calibri"/>
                <a:ea typeface="Calibri"/>
                <a:cs typeface="Calibri"/>
              </a:rPr>
              <a:t>▸  </a:t>
            </a:r>
            <a:r>
              <a:rPr lang="en-US" sz="120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Held-Suarez is the workhorse smoke test for any new dycore change before AMIP runs.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ect 3"/>
          <p:cNvSpPr/>
          <p:nvPr/>
        </p:nvSpPr>
        <p:spPr>
          <a:xfrm>
            <a:off x="502920" y="274320"/>
            <a:ext cx="384048" cy="54864"/>
          </a:xfrm>
          <a:prstGeom prst="rect">
            <a:avLst/>
          </a:prstGeom>
          <a:solidFill>
            <a:srgbClr val="E36414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Rect 4"/>
          <p:cNvSpPr/>
          <p:nvPr/>
        </p:nvSpPr>
        <p:spPr>
          <a:xfrm>
            <a:off x="1005840" y="219456"/>
            <a:ext cx="1783080" cy="219456"/>
          </a:xfrm>
          <a:prstGeom prst="rect">
            <a:avLst/>
          </a:prstGeom>
          <a:solidFill>
            <a:srgbClr val="0F4C5C"/>
          </a:solidFill>
          <a:ln>
            <a:noFill/>
          </a:ln>
        </p:spPr>
        <p:txBody>
          <a:bodyPr wrap="square" rtlCol="0" anchor="ctr" lIns="18288" tIns="18288" rIns="18288" bIns="18288">
            <a:normAutofit/>
          </a:bodyPr>
          <a:lstStyle/>
          <a:p>
            <a:pPr algn="ct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APPLICATIONS · RCE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02920" y="502920"/>
            <a:ext cx="11185855" cy="77724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0A3A47"/>
                </a:solidFill>
                <a:latin typeface="Georgia"/>
                <a:ea typeface="Georgia"/>
                <a:cs typeface="Georgia"/>
              </a:rPr>
              <a:t>RCE — radiative-convective equilibrium</a:t>
            </a:r>
          </a:p>
        </p:txBody>
      </p:sp>
      <p:sp>
        <p:nvSpPr>
          <p:cNvPr id="6" name="Rect 6"/>
          <p:cNvSpPr/>
          <p:nvPr/>
        </p:nvSpPr>
        <p:spPr>
          <a:xfrm>
            <a:off x="502920" y="1280160"/>
            <a:ext cx="11185855" cy="10973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502920" y="6492240"/>
            <a:ext cx="6400800" cy="27432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900" i="1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legoESM  ·  a differentiable Earth System Model in JAX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317175" y="6492240"/>
            <a:ext cx="1371600" cy="27432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 algn="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22 / 30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02920" y="1554480"/>
            <a:ext cx="5669280" cy="438912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22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E36414"/>
                </a:solidFill>
                <a:latin typeface="Calibri"/>
                <a:ea typeface="Calibri"/>
                <a:cs typeface="Calibri"/>
              </a:rPr>
              <a:t>▸  </a:t>
            </a:r>
            <a:r>
              <a:rPr lang="en-US" sz="130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Three RCE flavors share one driver: prescribed-SST · slab-ocean · slab-land</a:t>
            </a:r>
          </a:p>
          <a:p>
            <a:pPr>
              <a:lnSpc>
                <a:spcPct val="122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E36414"/>
                </a:solidFill>
                <a:latin typeface="Calibri"/>
                <a:ea typeface="Calibri"/>
                <a:cs typeface="Calibri"/>
              </a:rPr>
              <a:t>▸  </a:t>
            </a:r>
            <a:r>
              <a:rPr lang="en-US" sz="130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Spectral T21 + Gaussian grid · slab cubed-sphere C36 · multi-month rollouts</a:t>
            </a:r>
          </a:p>
          <a:p>
            <a:pPr>
              <a:lnSpc>
                <a:spcPct val="122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E36414"/>
                </a:solidFill>
                <a:latin typeface="Calibri"/>
                <a:ea typeface="Calibri"/>
                <a:cs typeface="Calibri"/>
              </a:rPr>
              <a:t>▸  </a:t>
            </a:r>
            <a:r>
              <a:rPr lang="en-US" sz="130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Used to validate radiation–convection–boundary-layer closure under a clean global-mean budget</a:t>
            </a:r>
          </a:p>
          <a:p>
            <a:pPr>
              <a:lnSpc>
                <a:spcPct val="122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E36414"/>
                </a:solidFill>
                <a:latin typeface="Calibri"/>
                <a:ea typeface="Calibri"/>
                <a:cs typeface="Calibri"/>
              </a:rPr>
              <a:t>▸  </a:t>
            </a:r>
            <a:r>
              <a:rPr lang="en-US" sz="130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Trainable physics modes plug straight into RCE: ideal sandbox for gradient-based parameter calibration</a:t>
            </a:r>
          </a:p>
          <a:p>
            <a:pPr>
              <a:lnSpc>
                <a:spcPct val="122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E36414"/>
                </a:solidFill>
                <a:latin typeface="Calibri"/>
                <a:ea typeface="Calibri"/>
                <a:cs typeface="Calibri"/>
              </a:rPr>
              <a:t>▸  </a:t>
            </a:r>
            <a:r>
              <a:rPr lang="en-US" sz="130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Single-column model (atmosphere/scm.py): same physics factory as 3D runs — for fast offline diagnostics and ML-physics training data</a:t>
            </a:r>
          </a:p>
        </p:txBody>
      </p:sp>
      <p:sp>
        <p:nvSpPr>
          <p:cNvPr id="10" name="Rect 10"/>
          <p:cNvSpPr/>
          <p:nvPr/>
        </p:nvSpPr>
        <p:spPr>
          <a:xfrm>
            <a:off x="6446520" y="1554480"/>
            <a:ext cx="5242255" cy="406908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11" name="TextBox 11"/>
          <p:cNvSpPr txBox="1"/>
          <p:nvPr/>
        </p:nvSpPr>
        <p:spPr>
          <a:xfrm>
            <a:off x="6446520" y="3406140"/>
            <a:ext cx="5242255" cy="36576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 algn="ct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[figure missing: rce_snapshots.png]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446520" y="5669280"/>
            <a:ext cx="5242255" cy="27432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 algn="ct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000" i="1" dirty="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Slab-ocean RCE equilibrium — global snapshots near radiative equilibrium.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ect 3"/>
          <p:cNvSpPr/>
          <p:nvPr/>
        </p:nvSpPr>
        <p:spPr>
          <a:xfrm>
            <a:off x="502920" y="274320"/>
            <a:ext cx="384048" cy="54864"/>
          </a:xfrm>
          <a:prstGeom prst="rect">
            <a:avLst/>
          </a:prstGeom>
          <a:solidFill>
            <a:srgbClr val="E36414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Rect 4"/>
          <p:cNvSpPr/>
          <p:nvPr/>
        </p:nvSpPr>
        <p:spPr>
          <a:xfrm>
            <a:off x="1005840" y="219456"/>
            <a:ext cx="1783080" cy="219456"/>
          </a:xfrm>
          <a:prstGeom prst="rect">
            <a:avLst/>
          </a:prstGeom>
          <a:solidFill>
            <a:srgbClr val="0F4C5C"/>
          </a:solidFill>
          <a:ln>
            <a:noFill/>
          </a:ln>
        </p:spPr>
        <p:txBody>
          <a:bodyPr wrap="square" rtlCol="0" anchor="ctr" lIns="18288" tIns="18288" rIns="18288" bIns="18288">
            <a:normAutofit/>
          </a:bodyPr>
          <a:lstStyle/>
          <a:p>
            <a:pPr algn="ct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APPLICATIONS · AI-PHYSICS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02920" y="502920"/>
            <a:ext cx="11185855" cy="77724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0A3A47"/>
                </a:solidFill>
                <a:latin typeface="Georgia"/>
                <a:ea typeface="Georgia"/>
                <a:cs typeface="Georgia"/>
              </a:rPr>
              <a:t>AIMIP &amp; differentiable physics tuning</a:t>
            </a:r>
          </a:p>
        </p:txBody>
      </p:sp>
      <p:sp>
        <p:nvSpPr>
          <p:cNvPr id="6" name="Rect 6"/>
          <p:cNvSpPr/>
          <p:nvPr/>
        </p:nvSpPr>
        <p:spPr>
          <a:xfrm>
            <a:off x="502920" y="1280160"/>
            <a:ext cx="11185855" cy="10973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502920" y="6492240"/>
            <a:ext cx="6400800" cy="27432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900" i="1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legoESM  ·  a differentiable Earth System Model in JAX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317175" y="6492240"/>
            <a:ext cx="1371600" cy="27432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 algn="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23 / 30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02920" y="1554480"/>
            <a:ext cx="5943600" cy="36576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A3A47"/>
                </a:solidFill>
                <a:latin typeface="Georgia"/>
                <a:ea typeface="Georgia"/>
                <a:cs typeface="Georgia"/>
              </a:rPr>
              <a:t>Mode 1 · trainable classical physics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02920" y="1965960"/>
            <a:ext cx="5943600" cy="411480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E36414"/>
                </a:solidFill>
                <a:latin typeface="Calibri"/>
                <a:ea typeface="Calibri"/>
                <a:cs typeface="Calibri"/>
              </a:rPr>
              <a:t>▸  </a:t>
            </a:r>
            <a:r>
              <a:rPr lang="en-US" sz="125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TrainablePhysicsParams (Equinox module): 8 physics params wrapped in sigmoid range constraints</a:t>
            </a:r>
          </a:p>
          <a:p>
            <a:pPr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E36414"/>
                </a:solidFill>
                <a:latin typeface="Calibri"/>
                <a:ea typeface="Calibri"/>
                <a:cs typeface="Calibri"/>
              </a:rPr>
              <a:t>▸  </a:t>
            </a:r>
            <a:r>
              <a:rPr lang="en-US" sz="125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Held–Suarez: τ_equator ∈ [5,10] d · τ_pole ∈ [1,3] d</a:t>
            </a:r>
          </a:p>
          <a:p>
            <a:pPr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E36414"/>
                </a:solidFill>
                <a:latin typeface="Calibri"/>
                <a:ea typeface="Calibri"/>
                <a:cs typeface="Calibri"/>
              </a:rPr>
              <a:t>▸  </a:t>
            </a:r>
            <a:r>
              <a:rPr lang="en-US" sz="125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SBM convection: τ_c ∈ [1, 4] h · RH_ref ∈ [0.6, 0.9]</a:t>
            </a:r>
          </a:p>
          <a:p>
            <a:pPr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E36414"/>
                </a:solidFill>
                <a:latin typeface="Calibri"/>
                <a:ea typeface="Calibri"/>
                <a:cs typeface="Calibri"/>
              </a:rPr>
              <a:t>▸  </a:t>
            </a:r>
            <a:r>
              <a:rPr lang="en-US" sz="125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Bulk fluxes: C_H, C_E ∈ [10⁻³, 5·10⁻³]</a:t>
            </a:r>
          </a:p>
          <a:p>
            <a:pPr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E36414"/>
                </a:solidFill>
                <a:latin typeface="Calibri"/>
                <a:ea typeface="Calibri"/>
                <a:cs typeface="Calibri"/>
              </a:rPr>
              <a:t>▸  </a:t>
            </a:r>
            <a:r>
              <a:rPr lang="en-US" sz="125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Albedos: α_ice ∈ [0.4, 0.8] · α_ocean ∈ [0.03, 0.10]</a:t>
            </a:r>
          </a:p>
          <a:p>
            <a:pPr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E36414"/>
                </a:solidFill>
                <a:latin typeface="Calibri"/>
                <a:ea typeface="Calibri"/>
                <a:cs typeface="Calibri"/>
              </a:rPr>
              <a:t>▸  </a:t>
            </a:r>
            <a:r>
              <a:rPr lang="en-US" sz="125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Scheme-specific subsets via trainable_constraints_for_scheme()</a:t>
            </a:r>
          </a:p>
          <a:p>
            <a:pPr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E36414"/>
                </a:solidFill>
                <a:latin typeface="Calibri"/>
                <a:ea typeface="Calibri"/>
                <a:cs typeface="Calibri"/>
              </a:rPr>
              <a:t>▸  </a:t>
            </a:r>
            <a:r>
              <a:rPr lang="en-US" sz="125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AIMIPClassicalParams adds Tiedtke + Louis + McFarlane + Xu–Randall + gray-radiation tunables</a:t>
            </a:r>
          </a:p>
        </p:txBody>
      </p:sp>
      <p:sp>
        <p:nvSpPr>
          <p:cNvPr id="11" name="Rect 11"/>
          <p:cNvSpPr/>
          <p:nvPr/>
        </p:nvSpPr>
        <p:spPr>
          <a:xfrm>
            <a:off x="6720840" y="1554480"/>
            <a:ext cx="4967935" cy="4526280"/>
          </a:xfrm>
          <a:prstGeom prst="rect">
            <a:avLst/>
          </a:prstGeom>
          <a:solidFill>
            <a:srgbClr val="0A3A4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extBox 12"/>
          <p:cNvSpPr txBox="1"/>
          <p:nvPr/>
        </p:nvSpPr>
        <p:spPr>
          <a:xfrm>
            <a:off x="6995160" y="1737360"/>
            <a:ext cx="4419295" cy="36576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300" i="1" dirty="0">
                <a:solidFill>
                  <a:srgbClr val="CBD5E1"/>
                </a:solidFill>
                <a:latin typeface="Georgia"/>
                <a:ea typeface="Georgia"/>
                <a:cs typeface="Georgia"/>
              </a:rPr>
              <a:t>training loop · gradient flows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995160" y="2103120"/>
            <a:ext cx="4419295" cy="402336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params = TrainablePhysicsParams.init(...)</a:t>
            </a:r>
          </a:p>
          <a:p>
            <a:pPr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def loss(p, state0, target):</a:t>
            </a:r>
          </a:p>
          <a:p>
            <a:pPr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final = build_segment_fn(p).raw(</a:t>
            </a:r>
          </a:p>
          <a:p>
            <a:pPr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state0, forcing, n_steps=N)</a:t>
            </a:r>
          </a:p>
          <a:p>
            <a:pPr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return area_weighted_mse(</a:t>
            </a:r>
          </a:p>
          <a:p>
            <a:pPr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final.q_v, target.q_v)</a:t>
            </a:r>
          </a:p>
          <a:p>
            <a:pPr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loss_val, grads = (</a:t>
            </a:r>
          </a:p>
          <a:p>
            <a:pPr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eqx.filter_value_and_grad(loss)</a:t>
            </a:r>
          </a:p>
          <a:p>
            <a:pPr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(params, state0, target))</a:t>
            </a:r>
          </a:p>
          <a:p>
            <a:pPr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params = optax_update(params, grads)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ect 3"/>
          <p:cNvSpPr/>
          <p:nvPr/>
        </p:nvSpPr>
        <p:spPr>
          <a:xfrm>
            <a:off x="502920" y="274320"/>
            <a:ext cx="384048" cy="54864"/>
          </a:xfrm>
          <a:prstGeom prst="rect">
            <a:avLst/>
          </a:prstGeom>
          <a:solidFill>
            <a:srgbClr val="E36414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Rect 4"/>
          <p:cNvSpPr/>
          <p:nvPr/>
        </p:nvSpPr>
        <p:spPr>
          <a:xfrm>
            <a:off x="1005840" y="219456"/>
            <a:ext cx="1783080" cy="219456"/>
          </a:xfrm>
          <a:prstGeom prst="rect">
            <a:avLst/>
          </a:prstGeom>
          <a:solidFill>
            <a:srgbClr val="0F4C5C"/>
          </a:solidFill>
          <a:ln>
            <a:noFill/>
          </a:ln>
        </p:spPr>
        <p:txBody>
          <a:bodyPr wrap="square" rtlCol="0" anchor="ctr" lIns="18288" tIns="18288" rIns="18288" bIns="18288">
            <a:normAutofit/>
          </a:bodyPr>
          <a:lstStyle/>
          <a:p>
            <a:pPr algn="ct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APPLICATIONS · AI-PHYSICS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02920" y="502920"/>
            <a:ext cx="11185855" cy="77724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0A3A47"/>
                </a:solidFill>
                <a:latin typeface="Georgia"/>
                <a:ea typeface="Georgia"/>
                <a:cs typeface="Georgia"/>
              </a:rPr>
              <a:t>NeuralGCM + SFNO hybrids</a:t>
            </a:r>
          </a:p>
        </p:txBody>
      </p:sp>
      <p:sp>
        <p:nvSpPr>
          <p:cNvPr id="6" name="Rect 6"/>
          <p:cNvSpPr/>
          <p:nvPr/>
        </p:nvSpPr>
        <p:spPr>
          <a:xfrm>
            <a:off x="502920" y="1280160"/>
            <a:ext cx="11185855" cy="10973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502920" y="6492240"/>
            <a:ext cx="6400800" cy="27432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900" i="1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legoESM  ·  a differentiable Earth System Model in JAX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317175" y="6492240"/>
            <a:ext cx="1371600" cy="27432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 algn="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24 / 30</a:t>
            </a:r>
          </a:p>
        </p:txBody>
      </p:sp>
      <p:sp>
        <p:nvSpPr>
          <p:cNvPr id="9" name="Rect 9"/>
          <p:cNvSpPr/>
          <p:nvPr/>
        </p:nvSpPr>
        <p:spPr>
          <a:xfrm>
            <a:off x="502920" y="1554480"/>
            <a:ext cx="5455768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10" name="Rect 10"/>
          <p:cNvSpPr/>
          <p:nvPr/>
        </p:nvSpPr>
        <p:spPr>
          <a:xfrm>
            <a:off x="502920" y="1554480"/>
            <a:ext cx="91440" cy="4572000"/>
          </a:xfrm>
          <a:prstGeom prst="rect">
            <a:avLst/>
          </a:prstGeom>
          <a:solidFill>
            <a:srgbClr val="E3641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TextBox 11"/>
          <p:cNvSpPr txBox="1"/>
          <p:nvPr/>
        </p:nvSpPr>
        <p:spPr>
          <a:xfrm>
            <a:off x="731520" y="1691640"/>
            <a:ext cx="5090008" cy="41148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A3A47"/>
                </a:solidFill>
                <a:latin typeface="Georgia"/>
                <a:ea typeface="Georgia"/>
                <a:cs typeface="Georgia"/>
              </a:rPr>
              <a:t>Mode 2 · NeuralGCM-style spectral PE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31520" y="2194560"/>
            <a:ext cx="5090008" cy="384048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8000"/>
              </a:lnSpc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E36414"/>
                </a:solidFill>
                <a:latin typeface="Calibri"/>
                <a:ea typeface="Calibri"/>
                <a:cs typeface="Calibri"/>
              </a:rPr>
              <a:t>▸  </a:t>
            </a:r>
            <a:r>
              <a:rPr lang="en-US" sz="115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Spectral PE dycore + neural physics under one segment kernel</a:t>
            </a:r>
          </a:p>
          <a:p>
            <a:pPr>
              <a:lnSpc>
                <a:spcPct val="118000"/>
              </a:lnSpc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E36414"/>
                </a:solidFill>
                <a:latin typeface="Calibri"/>
                <a:ea typeface="Calibri"/>
                <a:cs typeface="Calibri"/>
              </a:rPr>
              <a:t>▸  </a:t>
            </a:r>
            <a:r>
              <a:rPr lang="en-US" sz="115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training/neural_gcm_spectral.py · train_neural_gcm()</a:t>
            </a:r>
          </a:p>
          <a:p>
            <a:pPr>
              <a:lnSpc>
                <a:spcPct val="118000"/>
              </a:lnSpc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E36414"/>
                </a:solidFill>
                <a:latin typeface="Calibri"/>
                <a:ea typeface="Calibri"/>
                <a:cs typeface="Calibri"/>
              </a:rPr>
              <a:t>▸  </a:t>
            </a:r>
            <a:r>
              <a:rPr lang="en-US" sz="115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Equinox NN replaces (or augments) classical physics; conservation correctors keep mass / moisture exact</a:t>
            </a:r>
          </a:p>
          <a:p>
            <a:pPr>
              <a:lnSpc>
                <a:spcPct val="118000"/>
              </a:lnSpc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E36414"/>
                </a:solidFill>
                <a:latin typeface="Calibri"/>
                <a:ea typeface="Calibri"/>
                <a:cs typeface="Calibri"/>
              </a:rPr>
              <a:t>▸  </a:t>
            </a:r>
            <a:r>
              <a:rPr lang="en-US" sz="115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Same loss / optimizer infrastructure as Mode 1 — only the parameter tree changes</a:t>
            </a:r>
          </a:p>
          <a:p>
            <a:pPr>
              <a:lnSpc>
                <a:spcPct val="118000"/>
              </a:lnSpc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E36414"/>
                </a:solidFill>
                <a:latin typeface="Calibri"/>
                <a:ea typeface="Calibri"/>
                <a:cs typeface="Calibri"/>
              </a:rPr>
              <a:t>▸  </a:t>
            </a:r>
            <a:r>
              <a:rPr lang="en-US" sz="115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Gradient checkpointing through lax.scan for long rollouts</a:t>
            </a:r>
          </a:p>
        </p:txBody>
      </p:sp>
      <p:sp>
        <p:nvSpPr>
          <p:cNvPr id="13" name="Rect 13"/>
          <p:cNvSpPr/>
          <p:nvPr/>
        </p:nvSpPr>
        <p:spPr>
          <a:xfrm>
            <a:off x="6233008" y="1554480"/>
            <a:ext cx="5455768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14" name="Rect 14"/>
          <p:cNvSpPr/>
          <p:nvPr/>
        </p:nvSpPr>
        <p:spPr>
          <a:xfrm>
            <a:off x="6233008" y="1554480"/>
            <a:ext cx="91440" cy="4572000"/>
          </a:xfrm>
          <a:prstGeom prst="rect">
            <a:avLst/>
          </a:prstGeom>
          <a:solidFill>
            <a:srgbClr val="0F4C5C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TextBox 15"/>
          <p:cNvSpPr txBox="1"/>
          <p:nvPr/>
        </p:nvSpPr>
        <p:spPr>
          <a:xfrm>
            <a:off x="6461608" y="1691640"/>
            <a:ext cx="5090008" cy="41148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A3A47"/>
                </a:solidFill>
                <a:latin typeface="Georgia"/>
                <a:ea typeface="Georgia"/>
                <a:cs typeface="Georgia"/>
              </a:rPr>
              <a:t>Mode 3 · SFNO coupled to dycore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461608" y="2194560"/>
            <a:ext cx="5090008" cy="384048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8000"/>
              </a:lnSpc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E36414"/>
                </a:solidFill>
                <a:latin typeface="Calibri"/>
                <a:ea typeface="Calibri"/>
                <a:cs typeface="Calibri"/>
              </a:rPr>
              <a:t>▸  </a:t>
            </a:r>
            <a:r>
              <a:rPr lang="en-US" sz="115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SFNO (Bonev 2023 + Watt-Meyer / Clark / Henn ACE 2023) in ml/sfno.py</a:t>
            </a:r>
          </a:p>
          <a:p>
            <a:pPr>
              <a:lnSpc>
                <a:spcPct val="118000"/>
              </a:lnSpc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E36414"/>
                </a:solidFill>
                <a:latin typeface="Calibri"/>
                <a:ea typeface="Calibri"/>
                <a:cs typeface="Calibri"/>
              </a:rPr>
              <a:t>▸  </a:t>
            </a:r>
            <a:r>
              <a:rPr lang="en-US" sz="115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Encoder → N SFNOBlocks (spectral conv + MLP) → decoder + big-skip residual</a:t>
            </a:r>
          </a:p>
          <a:p>
            <a:pPr>
              <a:lnSpc>
                <a:spcPct val="118000"/>
              </a:lnSpc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E36414"/>
                </a:solidFill>
                <a:latin typeface="Calibri"/>
                <a:ea typeface="Calibri"/>
                <a:cs typeface="Calibri"/>
              </a:rPr>
              <a:t>▸  </a:t>
            </a:r>
            <a:r>
              <a:rPr lang="en-US" sz="115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Defaults: embed_dim=256 · n_blocks=8 · mlp_expansion=4 · per-block gradient_checkpoint</a:t>
            </a:r>
          </a:p>
          <a:p>
            <a:pPr>
              <a:lnSpc>
                <a:spcPct val="118000"/>
              </a:lnSpc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E36414"/>
                </a:solidFill>
                <a:latin typeface="Calibri"/>
                <a:ea typeface="Calibri"/>
                <a:cs typeface="Calibri"/>
              </a:rPr>
              <a:t>▸  </a:t>
            </a:r>
            <a:r>
              <a:rPr lang="en-US" sz="115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Channel packing (ml/channel_packing.py): state ↔ tensor for SW / PE-3D / Ocean · WB2 pressure levels</a:t>
            </a:r>
          </a:p>
          <a:p>
            <a:pPr>
              <a:lnSpc>
                <a:spcPct val="118000"/>
              </a:lnSpc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E36414"/>
                </a:solidFill>
                <a:latin typeface="Calibri"/>
                <a:ea typeface="Calibri"/>
                <a:cs typeface="Calibri"/>
              </a:rPr>
              <a:t>▸  </a:t>
            </a:r>
            <a:r>
              <a:rPr lang="en-US" sz="115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Conservation correctors post-network: dry mass / moisture / ocean volume / heat / salt</a:t>
            </a:r>
          </a:p>
          <a:p>
            <a:pPr>
              <a:lnSpc>
                <a:spcPct val="118000"/>
              </a:lnSpc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E36414"/>
                </a:solidFill>
                <a:latin typeface="Calibri"/>
                <a:ea typeface="Calibri"/>
                <a:cs typeface="Calibri"/>
              </a:rPr>
              <a:t>▸  </a:t>
            </a:r>
            <a:r>
              <a:rPr lang="en-US" sz="115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Drop-in replacement for any dycore in compiled_segments — same SegmentCarry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ect 3"/>
          <p:cNvSpPr/>
          <p:nvPr/>
        </p:nvSpPr>
        <p:spPr>
          <a:xfrm>
            <a:off x="502920" y="274320"/>
            <a:ext cx="384048" cy="54864"/>
          </a:xfrm>
          <a:prstGeom prst="rect">
            <a:avLst/>
          </a:prstGeom>
          <a:solidFill>
            <a:srgbClr val="E36414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Rect 4"/>
          <p:cNvSpPr/>
          <p:nvPr/>
        </p:nvSpPr>
        <p:spPr>
          <a:xfrm>
            <a:off x="1005840" y="219456"/>
            <a:ext cx="1783080" cy="219456"/>
          </a:xfrm>
          <a:prstGeom prst="rect">
            <a:avLst/>
          </a:prstGeom>
          <a:solidFill>
            <a:srgbClr val="0F4C5C"/>
          </a:solidFill>
          <a:ln>
            <a:noFill/>
          </a:ln>
        </p:spPr>
        <p:txBody>
          <a:bodyPr wrap="square" rtlCol="0" anchor="ctr" lIns="18288" tIns="18288" rIns="18288" bIns="18288">
            <a:normAutofit/>
          </a:bodyPr>
          <a:lstStyle/>
          <a:p>
            <a:pPr algn="ct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APPLICATIONS · S2S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02920" y="502920"/>
            <a:ext cx="11185855" cy="77724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0A3A47"/>
                </a:solidFill>
                <a:latin typeface="Georgia"/>
                <a:ea typeface="Georgia"/>
                <a:cs typeface="Georgia"/>
              </a:rPr>
              <a:t>SFNO + slab ocean — S2S coupled rollouts</a:t>
            </a:r>
          </a:p>
        </p:txBody>
      </p:sp>
      <p:sp>
        <p:nvSpPr>
          <p:cNvPr id="6" name="Rect 6"/>
          <p:cNvSpPr/>
          <p:nvPr/>
        </p:nvSpPr>
        <p:spPr>
          <a:xfrm>
            <a:off x="502920" y="1280160"/>
            <a:ext cx="11185855" cy="10973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502920" y="6492240"/>
            <a:ext cx="6400800" cy="27432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900" i="1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legoESM  ·  a differentiable Earth System Model in JAX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317175" y="6492240"/>
            <a:ext cx="1371600" cy="27432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 algn="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25 / 30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02920" y="1600200"/>
            <a:ext cx="6035040" cy="438912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E36414"/>
                </a:solidFill>
                <a:latin typeface="Calibri"/>
                <a:ea typeface="Calibri"/>
                <a:cs typeface="Calibri"/>
              </a:rPr>
              <a:t>▸  </a:t>
            </a:r>
            <a:r>
              <a:rPr lang="en-US" sz="125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ml/s2s/sfno_slab/: SFNO atmosphere + slab ocean — S2S campaign infrastructure (training, rollout, coupling, evaluation, ChaosBench-compatible).</a:t>
            </a:r>
          </a:p>
          <a:p>
            <a:pPr>
              <a:lnSpc>
                <a:spcPct val="120000"/>
              </a:lnSpc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E36414"/>
                </a:solidFill>
                <a:latin typeface="Calibri"/>
                <a:ea typeface="Calibri"/>
                <a:cs typeface="Calibri"/>
              </a:rPr>
              <a:t>▸  </a:t>
            </a:r>
            <a:r>
              <a:rPr lang="en-US" sz="125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ml/s2s/neuralgcm_slab/: NeuralGCM atmosphere + slab ocean — neuralgcm_backend, slab_coupling, campaign, ensemble.</a:t>
            </a:r>
          </a:p>
          <a:p>
            <a:pPr>
              <a:lnSpc>
                <a:spcPct val="120000"/>
              </a:lnSpc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E36414"/>
                </a:solidFill>
                <a:latin typeface="Calibri"/>
                <a:ea typeface="Calibri"/>
                <a:cs typeface="Calibri"/>
              </a:rPr>
              <a:t>▸  </a:t>
            </a:r>
            <a:r>
              <a:rPr lang="en-US" sz="125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Same SurfaceState / TileFractions interface as the full coupled model — the slab is just a simpler ocean component plugged into the existing coupler.</a:t>
            </a:r>
          </a:p>
          <a:p>
            <a:pPr>
              <a:lnSpc>
                <a:spcPct val="120000"/>
              </a:lnSpc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E36414"/>
                </a:solidFill>
                <a:latin typeface="Calibri"/>
                <a:ea typeface="Calibri"/>
                <a:cs typeface="Calibri"/>
              </a:rPr>
              <a:t>▸  </a:t>
            </a:r>
            <a:r>
              <a:rPr lang="en-US" sz="125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Trained on ERA5 (era5_to_state.py · era5_loader.py) with area-weighted MSE + spectral loss; optimizer in ml/training.create_optimizer().</a:t>
            </a:r>
          </a:p>
          <a:p>
            <a:pPr>
              <a:lnSpc>
                <a:spcPct val="120000"/>
              </a:lnSpc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E36414"/>
                </a:solidFill>
                <a:latin typeface="Calibri"/>
                <a:ea typeface="Calibri"/>
                <a:cs typeface="Calibri"/>
              </a:rPr>
              <a:t>▸  </a:t>
            </a:r>
            <a:r>
              <a:rPr lang="en-US" sz="125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Joint ML-physics workflow (ml/physics/): PhysicsTeacherDataset + capture_physics_teacher_snapshot from AMIP runs trains a parameterization replacement that respects conservation.</a:t>
            </a:r>
          </a:p>
        </p:txBody>
      </p:sp>
      <p:sp>
        <p:nvSpPr>
          <p:cNvPr id="10" name="Rect 10"/>
          <p:cNvSpPr/>
          <p:nvPr/>
        </p:nvSpPr>
        <p:spPr>
          <a:xfrm>
            <a:off x="6812280" y="1600200"/>
            <a:ext cx="4876495" cy="44348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11" name="TextBox 11"/>
          <p:cNvSpPr txBox="1"/>
          <p:nvPr/>
        </p:nvSpPr>
        <p:spPr>
          <a:xfrm>
            <a:off x="7040880" y="1737360"/>
            <a:ext cx="4419295" cy="36576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E36414"/>
                </a:solidFill>
                <a:latin typeface="Georgia"/>
                <a:ea typeface="Georgia"/>
                <a:cs typeface="Georgia"/>
              </a:rPr>
              <a:t>S2S coupled step</a:t>
            </a:r>
          </a:p>
        </p:txBody>
      </p:sp>
      <p:sp>
        <p:nvSpPr>
          <p:cNvPr id="12" name="Rect 12"/>
          <p:cNvSpPr/>
          <p:nvPr/>
        </p:nvSpPr>
        <p:spPr>
          <a:xfrm>
            <a:off x="7086600" y="2286000"/>
            <a:ext cx="4327855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13" name="TextBox 13"/>
          <p:cNvSpPr txBox="1"/>
          <p:nvPr/>
        </p:nvSpPr>
        <p:spPr>
          <a:xfrm>
            <a:off x="7223760" y="2286000"/>
            <a:ext cx="2229444" cy="457200"/>
          </a:xfrm>
          <a:prstGeom prst="rect">
            <a:avLst/>
          </a:prstGeom>
          <a:noFill/>
        </p:spPr>
        <p:txBody>
          <a:bodyPr wrap="square" rtlCol="0" anchor="ctr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A3A47"/>
                </a:solidFill>
                <a:latin typeface="Georgia"/>
                <a:ea typeface="Georgia"/>
                <a:cs typeface="Georgia"/>
              </a:rPr>
              <a:t>ERA5 state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453204" y="2286000"/>
            <a:ext cx="1824091" cy="457200"/>
          </a:xfrm>
          <a:prstGeom prst="rect">
            <a:avLst/>
          </a:prstGeom>
          <a:noFill/>
        </p:spPr>
        <p:txBody>
          <a:bodyPr wrap="square" rtlCol="0" anchor="ctr" lIns="0" tIns="0" rIns="0" bIns="0">
            <a:normAutofit/>
          </a:bodyPr>
          <a:lstStyle/>
          <a:p>
            <a:pPr algn="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(packed channels)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067648" y="2724912"/>
            <a:ext cx="365760" cy="164592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 algn="ct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E36414"/>
                </a:solidFill>
                <a:latin typeface="Calibri"/>
                <a:ea typeface="Calibri"/>
                <a:cs typeface="Calibri"/>
              </a:rPr>
              <a:t>↓</a:t>
            </a:r>
          </a:p>
        </p:txBody>
      </p:sp>
      <p:sp>
        <p:nvSpPr>
          <p:cNvPr id="16" name="Rect 16"/>
          <p:cNvSpPr/>
          <p:nvPr/>
        </p:nvSpPr>
        <p:spPr>
          <a:xfrm>
            <a:off x="7086600" y="2889504"/>
            <a:ext cx="4327855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17" name="TextBox 17"/>
          <p:cNvSpPr txBox="1"/>
          <p:nvPr/>
        </p:nvSpPr>
        <p:spPr>
          <a:xfrm>
            <a:off x="7223760" y="2889504"/>
            <a:ext cx="2229444" cy="457200"/>
          </a:xfrm>
          <a:prstGeom prst="rect">
            <a:avLst/>
          </a:prstGeom>
          <a:noFill/>
        </p:spPr>
        <p:txBody>
          <a:bodyPr wrap="square" rtlCol="0" anchor="ctr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A3A47"/>
                </a:solidFill>
                <a:latin typeface="Georgia"/>
                <a:ea typeface="Georgia"/>
                <a:cs typeface="Georgia"/>
              </a:rPr>
              <a:t>SFNO atm step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453204" y="2889504"/>
            <a:ext cx="1824091" cy="457200"/>
          </a:xfrm>
          <a:prstGeom prst="rect">
            <a:avLst/>
          </a:prstGeom>
          <a:noFill/>
        </p:spPr>
        <p:txBody>
          <a:bodyPr wrap="square" rtlCol="0" anchor="ctr" lIns="0" tIns="0" rIns="0" bIns="0">
            <a:normAutofit/>
          </a:bodyPr>
          <a:lstStyle/>
          <a:p>
            <a:pPr algn="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(spectral conv)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067648" y="3328416"/>
            <a:ext cx="365760" cy="164592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 algn="ct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E36414"/>
                </a:solidFill>
                <a:latin typeface="Calibri"/>
                <a:ea typeface="Calibri"/>
                <a:cs typeface="Calibri"/>
              </a:rPr>
              <a:t>↓</a:t>
            </a:r>
          </a:p>
        </p:txBody>
      </p:sp>
      <p:sp>
        <p:nvSpPr>
          <p:cNvPr id="20" name="Rect 20"/>
          <p:cNvSpPr/>
          <p:nvPr/>
        </p:nvSpPr>
        <p:spPr>
          <a:xfrm>
            <a:off x="7086600" y="3493008"/>
            <a:ext cx="4327855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21" name="TextBox 21"/>
          <p:cNvSpPr txBox="1"/>
          <p:nvPr/>
        </p:nvSpPr>
        <p:spPr>
          <a:xfrm>
            <a:off x="7223760" y="3493008"/>
            <a:ext cx="2229444" cy="457200"/>
          </a:xfrm>
          <a:prstGeom prst="rect">
            <a:avLst/>
          </a:prstGeom>
          <a:noFill/>
        </p:spPr>
        <p:txBody>
          <a:bodyPr wrap="square" rtlCol="0" anchor="ctr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A3A47"/>
                </a:solidFill>
                <a:latin typeface="Georgia"/>
                <a:ea typeface="Georgia"/>
                <a:cs typeface="Georgia"/>
              </a:rPr>
              <a:t>conservation correctors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453204" y="3493008"/>
            <a:ext cx="1824091" cy="457200"/>
          </a:xfrm>
          <a:prstGeom prst="rect">
            <a:avLst/>
          </a:prstGeom>
          <a:noFill/>
        </p:spPr>
        <p:txBody>
          <a:bodyPr wrap="square" rtlCol="0" anchor="ctr" lIns="0" tIns="0" rIns="0" bIns="0">
            <a:normAutofit/>
          </a:bodyPr>
          <a:lstStyle/>
          <a:p>
            <a:pPr algn="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(mass / moisture)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067648" y="3931920"/>
            <a:ext cx="365760" cy="164592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 algn="ct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E36414"/>
                </a:solidFill>
                <a:latin typeface="Calibri"/>
                <a:ea typeface="Calibri"/>
                <a:cs typeface="Calibri"/>
              </a:rPr>
              <a:t>↓</a:t>
            </a:r>
          </a:p>
        </p:txBody>
      </p:sp>
      <p:sp>
        <p:nvSpPr>
          <p:cNvPr id="24" name="Rect 24"/>
          <p:cNvSpPr/>
          <p:nvPr/>
        </p:nvSpPr>
        <p:spPr>
          <a:xfrm>
            <a:off x="7086600" y="4096512"/>
            <a:ext cx="4327855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25" name="TextBox 25"/>
          <p:cNvSpPr txBox="1"/>
          <p:nvPr/>
        </p:nvSpPr>
        <p:spPr>
          <a:xfrm>
            <a:off x="7223760" y="4096512"/>
            <a:ext cx="2229444" cy="457200"/>
          </a:xfrm>
          <a:prstGeom prst="rect">
            <a:avLst/>
          </a:prstGeom>
          <a:noFill/>
        </p:spPr>
        <p:txBody>
          <a:bodyPr wrap="square" rtlCol="0" anchor="ctr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A3A47"/>
                </a:solidFill>
                <a:latin typeface="Georgia"/>
                <a:ea typeface="Georgia"/>
                <a:cs typeface="Georgia"/>
              </a:rPr>
              <a:t>slab ocean step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453204" y="4096512"/>
            <a:ext cx="1824091" cy="457200"/>
          </a:xfrm>
          <a:prstGeom prst="rect">
            <a:avLst/>
          </a:prstGeom>
          <a:noFill/>
        </p:spPr>
        <p:txBody>
          <a:bodyPr wrap="square" rtlCol="0" anchor="ctr" lIns="0" tIns="0" rIns="0" bIns="0">
            <a:normAutofit/>
          </a:bodyPr>
          <a:lstStyle/>
          <a:p>
            <a:pPr algn="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(SST tendency)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067648" y="4535424"/>
            <a:ext cx="365760" cy="164592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 algn="ct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E36414"/>
                </a:solidFill>
                <a:latin typeface="Calibri"/>
                <a:ea typeface="Calibri"/>
                <a:cs typeface="Calibri"/>
              </a:rPr>
              <a:t>↓</a:t>
            </a:r>
          </a:p>
        </p:txBody>
      </p:sp>
      <p:sp>
        <p:nvSpPr>
          <p:cNvPr id="28" name="Rect 28"/>
          <p:cNvSpPr/>
          <p:nvPr/>
        </p:nvSpPr>
        <p:spPr>
          <a:xfrm>
            <a:off x="7086600" y="4700016"/>
            <a:ext cx="4327855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29" name="TextBox 29"/>
          <p:cNvSpPr txBox="1"/>
          <p:nvPr/>
        </p:nvSpPr>
        <p:spPr>
          <a:xfrm>
            <a:off x="7223760" y="4700016"/>
            <a:ext cx="2229444" cy="457200"/>
          </a:xfrm>
          <a:prstGeom prst="rect">
            <a:avLst/>
          </a:prstGeom>
          <a:noFill/>
        </p:spPr>
        <p:txBody>
          <a:bodyPr wrap="square" rtlCol="0" anchor="ctr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A3A47"/>
                </a:solidFill>
                <a:latin typeface="Georgia"/>
                <a:ea typeface="Georgia"/>
                <a:cs typeface="Georgia"/>
              </a:rPr>
              <a:t>tile blend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453204" y="4700016"/>
            <a:ext cx="1824091" cy="457200"/>
          </a:xfrm>
          <a:prstGeom prst="rect">
            <a:avLst/>
          </a:prstGeom>
          <a:noFill/>
        </p:spPr>
        <p:txBody>
          <a:bodyPr wrap="square" rtlCol="0" anchor="ctr" lIns="0" tIns="0" rIns="0" bIns="0">
            <a:normAutofit/>
          </a:bodyPr>
          <a:lstStyle/>
          <a:p>
            <a:pPr algn="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(coupler)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067648" y="5138928"/>
            <a:ext cx="365760" cy="164592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 algn="ct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E36414"/>
                </a:solidFill>
                <a:latin typeface="Calibri"/>
                <a:ea typeface="Calibri"/>
                <a:cs typeface="Calibri"/>
              </a:rPr>
              <a:t>↓</a:t>
            </a:r>
          </a:p>
        </p:txBody>
      </p:sp>
      <p:sp>
        <p:nvSpPr>
          <p:cNvPr id="32" name="Rect 32"/>
          <p:cNvSpPr/>
          <p:nvPr/>
        </p:nvSpPr>
        <p:spPr>
          <a:xfrm>
            <a:off x="7086600" y="5303520"/>
            <a:ext cx="4327855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33" name="TextBox 33"/>
          <p:cNvSpPr txBox="1"/>
          <p:nvPr/>
        </p:nvSpPr>
        <p:spPr>
          <a:xfrm>
            <a:off x="7223760" y="5303520"/>
            <a:ext cx="2229444" cy="457200"/>
          </a:xfrm>
          <a:prstGeom prst="rect">
            <a:avLst/>
          </a:prstGeom>
          <a:noFill/>
        </p:spPr>
        <p:txBody>
          <a:bodyPr wrap="square" rtlCol="0" anchor="ctr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A3A47"/>
                </a:solidFill>
                <a:latin typeface="Georgia"/>
                <a:ea typeface="Georgia"/>
                <a:cs typeface="Georgia"/>
              </a:rPr>
              <a:t>next state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ect 3"/>
          <p:cNvSpPr/>
          <p:nvPr/>
        </p:nvSpPr>
        <p:spPr>
          <a:xfrm>
            <a:off x="502920" y="274320"/>
            <a:ext cx="384048" cy="54864"/>
          </a:xfrm>
          <a:prstGeom prst="rect">
            <a:avLst/>
          </a:prstGeom>
          <a:solidFill>
            <a:srgbClr val="E36414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Rect 4"/>
          <p:cNvSpPr/>
          <p:nvPr/>
        </p:nvSpPr>
        <p:spPr>
          <a:xfrm>
            <a:off x="1005840" y="219456"/>
            <a:ext cx="1783080" cy="219456"/>
          </a:xfrm>
          <a:prstGeom prst="rect">
            <a:avLst/>
          </a:prstGeom>
          <a:solidFill>
            <a:srgbClr val="0F4C5C"/>
          </a:solidFill>
          <a:ln>
            <a:noFill/>
          </a:ln>
        </p:spPr>
        <p:txBody>
          <a:bodyPr wrap="square" rtlCol="0" anchor="ctr" lIns="18288" tIns="18288" rIns="18288" bIns="18288">
            <a:normAutofit/>
          </a:bodyPr>
          <a:lstStyle/>
          <a:p>
            <a:pPr algn="ct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APPLICATIONS · OCEAN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02920" y="502920"/>
            <a:ext cx="11185855" cy="77724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0A3A47"/>
                </a:solidFill>
                <a:latin typeface="Georgia"/>
                <a:ea typeface="Georgia"/>
                <a:cs typeface="Georgia"/>
              </a:rPr>
              <a:t>Ocean experiments — Drake / DINO / OMIP-2</a:t>
            </a:r>
          </a:p>
        </p:txBody>
      </p:sp>
      <p:sp>
        <p:nvSpPr>
          <p:cNvPr id="6" name="Rect 6"/>
          <p:cNvSpPr/>
          <p:nvPr/>
        </p:nvSpPr>
        <p:spPr>
          <a:xfrm>
            <a:off x="502920" y="1280160"/>
            <a:ext cx="11185855" cy="10973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502920" y="6492240"/>
            <a:ext cx="6400800" cy="27432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900" i="1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legoESM  ·  a differentiable Earth System Model in JAX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317175" y="6492240"/>
            <a:ext cx="1371600" cy="27432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 algn="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26 / 30</a:t>
            </a:r>
          </a:p>
        </p:txBody>
      </p:sp>
      <p:pic>
        <p:nvPicPr>
          <p:cNvPr id="9" name="Picture 9"/>
          <p:cNvPicPr/>
          <p:nvPr/>
        </p:nvPicPr>
        <p:blipFill>
          <a:blip r:embed="rId100"/>
          <a:stretch>
            <a:fillRect/>
          </a:stretch>
        </p:blipFill>
        <p:spPr>
          <a:xfrm>
            <a:off x="1351806" y="1508760"/>
            <a:ext cx="4337269" cy="36576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502920" y="5212080"/>
            <a:ext cx="6035040" cy="27432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 algn="ct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000" i="1" dirty="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Drake passage zonal-u evolution over 50 yr (implicit barotropic, cubed-sphere ocean).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812280" y="1554480"/>
            <a:ext cx="4876495" cy="36576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A3A47"/>
                </a:solidFill>
                <a:latin typeface="Georgia"/>
                <a:ea typeface="Georgia"/>
                <a:cs typeface="Georgia"/>
              </a:rPr>
              <a:t>Ocean experiment suite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812280" y="1965960"/>
            <a:ext cx="4876495" cy="420624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8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E36414"/>
                </a:solidFill>
                <a:latin typeface="Calibri"/>
                <a:ea typeface="Calibri"/>
                <a:cs typeface="Calibri"/>
              </a:rPr>
              <a:t>▸  </a:t>
            </a:r>
            <a:r>
              <a:rPr lang="en-US" sz="120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Global overturning across all 4 grids (200-yr / 50-yr-implicit / GM-Redi / MPAS-baseline)</a:t>
            </a:r>
          </a:p>
          <a:p>
            <a:pPr>
              <a:lnSpc>
                <a:spcPct val="118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E36414"/>
                </a:solidFill>
                <a:latin typeface="Calibri"/>
                <a:ea typeface="Calibri"/>
                <a:cs typeface="Calibri"/>
              </a:rPr>
              <a:t>▸  </a:t>
            </a:r>
            <a:r>
              <a:rPr lang="en-US" sz="120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DINO double-gyre (Hochet 2025)</a:t>
            </a:r>
          </a:p>
          <a:p>
            <a:pPr>
              <a:lnSpc>
                <a:spcPct val="118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E36414"/>
                </a:solidFill>
                <a:latin typeface="Calibri"/>
                <a:ea typeface="Calibri"/>
                <a:cs typeface="Calibri"/>
              </a:rPr>
              <a:t>▸  </a:t>
            </a:r>
            <a:r>
              <a:rPr lang="en-US" sz="120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ACC channel · Phillips two-layer · Eady · Held–Larichev</a:t>
            </a:r>
          </a:p>
          <a:p>
            <a:pPr>
              <a:lnSpc>
                <a:spcPct val="118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E36414"/>
                </a:solidFill>
                <a:latin typeface="Calibri"/>
                <a:ea typeface="Calibri"/>
                <a:cs typeface="Calibri"/>
              </a:rPr>
              <a:t>▸  </a:t>
            </a:r>
            <a:r>
              <a:rPr lang="en-US" sz="120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NeverWorld2-lite · ISOMIP+ (ice-shelf cavity)</a:t>
            </a:r>
          </a:p>
          <a:p>
            <a:pPr>
              <a:lnSpc>
                <a:spcPct val="118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E36414"/>
                </a:solidFill>
                <a:latin typeface="Calibri"/>
                <a:ea typeface="Calibri"/>
                <a:cs typeface="Calibri"/>
              </a:rPr>
              <a:t>▸  </a:t>
            </a:r>
            <a:r>
              <a:rPr lang="en-US" sz="120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OMIP-2 JRA55-do multi-decadal across lat-lon / tripolar eORCA1 / cubed-sphere / MPAS</a:t>
            </a:r>
          </a:p>
          <a:p>
            <a:pPr>
              <a:lnSpc>
                <a:spcPct val="118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E36414"/>
                </a:solidFill>
                <a:latin typeface="Calibri"/>
                <a:ea typeface="Calibri"/>
                <a:cs typeface="Calibri"/>
              </a:rPr>
              <a:t>▸  </a:t>
            </a:r>
            <a:r>
              <a:rPr lang="en-US" sz="120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Bryan THC distorted-physics centennial spin-up</a:t>
            </a:r>
          </a:p>
          <a:p>
            <a:pPr>
              <a:lnSpc>
                <a:spcPct val="118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E36414"/>
                </a:solidFill>
                <a:latin typeface="Calibri"/>
                <a:ea typeface="Calibri"/>
                <a:cs typeface="Calibri"/>
              </a:rPr>
              <a:t>▸  </a:t>
            </a:r>
            <a:r>
              <a:rPr lang="en-US" sz="120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Veros fidelity harness — adapters for DINO, ACC, lock exchange, overflow, Eady uniform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3A47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731520" y="1371600"/>
            <a:ext cx="3657600" cy="228600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8000" b="1" dirty="0">
                <a:solidFill>
                  <a:srgbClr val="E36414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4" name="Rect 4"/>
          <p:cNvSpPr/>
          <p:nvPr/>
        </p:nvSpPr>
        <p:spPr>
          <a:xfrm>
            <a:off x="4572000" y="1920240"/>
            <a:ext cx="36576" cy="2377440"/>
          </a:xfrm>
          <a:prstGeom prst="rect">
            <a:avLst/>
          </a:prstGeom>
          <a:solidFill>
            <a:srgbClr val="E36414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extBox 5"/>
          <p:cNvSpPr txBox="1"/>
          <p:nvPr/>
        </p:nvSpPr>
        <p:spPr>
          <a:xfrm>
            <a:off x="4937760" y="1828800"/>
            <a:ext cx="6858000" cy="109728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4400" b="1" dirty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Validation strategy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937760" y="2926080"/>
            <a:ext cx="6858000" cy="228600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1800" dirty="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Dycore progression suite · Williamson · DCMIP · Held-Suarez · ocean test matrix (57/57) · Veros fidelity harness · visual + budget verification.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02920" y="6400800"/>
            <a:ext cx="7315200" cy="27432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000" i="1" dirty="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legoESM  ·  Pierre Gentine et al.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ect 3"/>
          <p:cNvSpPr/>
          <p:nvPr/>
        </p:nvSpPr>
        <p:spPr>
          <a:xfrm>
            <a:off x="502920" y="274320"/>
            <a:ext cx="384048" cy="54864"/>
          </a:xfrm>
          <a:prstGeom prst="rect">
            <a:avLst/>
          </a:prstGeom>
          <a:solidFill>
            <a:srgbClr val="E36414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Rect 4"/>
          <p:cNvSpPr/>
          <p:nvPr/>
        </p:nvSpPr>
        <p:spPr>
          <a:xfrm>
            <a:off x="1005840" y="219456"/>
            <a:ext cx="1783080" cy="219456"/>
          </a:xfrm>
          <a:prstGeom prst="rect">
            <a:avLst/>
          </a:prstGeom>
          <a:solidFill>
            <a:srgbClr val="0F4C5C"/>
          </a:solidFill>
          <a:ln>
            <a:noFill/>
          </a:ln>
        </p:spPr>
        <p:txBody>
          <a:bodyPr wrap="square" rtlCol="0" anchor="ctr" lIns="18288" tIns="18288" rIns="18288" bIns="18288">
            <a:normAutofit/>
          </a:bodyPr>
          <a:lstStyle/>
          <a:p>
            <a:pPr algn="ct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VALIDATION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02920" y="502920"/>
            <a:ext cx="11185855" cy="77724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0A3A47"/>
                </a:solidFill>
                <a:latin typeface="Georgia"/>
                <a:ea typeface="Georgia"/>
                <a:cs typeface="Georgia"/>
              </a:rPr>
              <a:t>Validation harness — what we run, when</a:t>
            </a:r>
          </a:p>
        </p:txBody>
      </p:sp>
      <p:sp>
        <p:nvSpPr>
          <p:cNvPr id="6" name="Rect 6"/>
          <p:cNvSpPr/>
          <p:nvPr/>
        </p:nvSpPr>
        <p:spPr>
          <a:xfrm>
            <a:off x="502920" y="1280160"/>
            <a:ext cx="11185855" cy="10973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502920" y="6492240"/>
            <a:ext cx="6400800" cy="27432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900" i="1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legoESM  ·  a differentiable Earth System Model in JAX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317175" y="6492240"/>
            <a:ext cx="1371600" cy="27432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 algn="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28 / 30</a:t>
            </a:r>
          </a:p>
        </p:txBody>
      </p:sp>
      <p:sp>
        <p:nvSpPr>
          <p:cNvPr id="9" name="Rect 9"/>
          <p:cNvSpPr/>
          <p:nvPr/>
        </p:nvSpPr>
        <p:spPr>
          <a:xfrm>
            <a:off x="502920" y="1645920"/>
            <a:ext cx="11201400" cy="384048"/>
          </a:xfrm>
          <a:prstGeom prst="rect">
            <a:avLst/>
          </a:prstGeom>
          <a:solidFill>
            <a:srgbClr val="0F4C5C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Box 10"/>
          <p:cNvSpPr txBox="1"/>
          <p:nvPr/>
        </p:nvSpPr>
        <p:spPr>
          <a:xfrm>
            <a:off x="612648" y="1645920"/>
            <a:ext cx="2523744" cy="384048"/>
          </a:xfrm>
          <a:prstGeom prst="rect">
            <a:avLst/>
          </a:prstGeom>
          <a:noFill/>
        </p:spPr>
        <p:txBody>
          <a:bodyPr wrap="square" rtlCol="0" anchor="ctr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Suite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355848" y="1645920"/>
            <a:ext cx="3803904" cy="384048"/>
          </a:xfrm>
          <a:prstGeom prst="rect">
            <a:avLst/>
          </a:prstGeom>
          <a:noFill/>
        </p:spPr>
        <p:txBody>
          <a:bodyPr wrap="square" rtlCol="0" anchor="ctr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Entry point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379208" y="1645920"/>
            <a:ext cx="4215384" cy="384048"/>
          </a:xfrm>
          <a:prstGeom prst="rect">
            <a:avLst/>
          </a:prstGeom>
          <a:noFill/>
        </p:spPr>
        <p:txBody>
          <a:bodyPr wrap="square" rtlCol="0" anchor="ctr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Coverage</a:t>
            </a:r>
          </a:p>
        </p:txBody>
      </p:sp>
      <p:sp>
        <p:nvSpPr>
          <p:cNvPr id="13" name="Rect 13"/>
          <p:cNvSpPr/>
          <p:nvPr/>
        </p:nvSpPr>
        <p:spPr>
          <a:xfrm>
            <a:off x="502920" y="2029968"/>
            <a:ext cx="1120140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Box 14"/>
          <p:cNvSpPr txBox="1"/>
          <p:nvPr/>
        </p:nvSpPr>
        <p:spPr>
          <a:xfrm>
            <a:off x="612648" y="2029968"/>
            <a:ext cx="2523744" cy="603504"/>
          </a:xfrm>
          <a:prstGeom prst="rect">
            <a:avLst/>
          </a:prstGeom>
          <a:noFill/>
        </p:spPr>
        <p:txBody>
          <a:bodyPr wrap="square" rtlCol="0" anchor="ctr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A3A47"/>
                </a:solidFill>
                <a:latin typeface="Calibri"/>
                <a:ea typeface="Calibri"/>
                <a:cs typeface="Calibri"/>
              </a:rPr>
              <a:t>Atmosphere test matrix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355848" y="2029968"/>
            <a:ext cx="3803904" cy="603504"/>
          </a:xfrm>
          <a:prstGeom prst="rect">
            <a:avLst/>
          </a:prstGeom>
          <a:noFill/>
        </p:spPr>
        <p:txBody>
          <a:bodyPr wrap="square" rtlCol="0" anchor="ctr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E36414"/>
                </a:solidFill>
                <a:latin typeface="Consolas"/>
                <a:ea typeface="Consolas"/>
                <a:cs typeface="Consolas"/>
              </a:rPr>
              <a:t>scripts/run_atmosphere_test_matrix.py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379208" y="2029968"/>
            <a:ext cx="4215384" cy="603504"/>
          </a:xfrm>
          <a:prstGeom prst="rect">
            <a:avLst/>
          </a:prstGeom>
          <a:noFill/>
        </p:spPr>
        <p:txBody>
          <a:bodyPr wrap="square" rtlCol="0" anchor="ctr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sw · hydro · nh · climate · tracer · dcmip2008 · dcmip2012 · dcmip2016 · hughes</a:t>
            </a:r>
          </a:p>
        </p:txBody>
      </p:sp>
      <p:sp>
        <p:nvSpPr>
          <p:cNvPr id="17" name="Rect 17"/>
          <p:cNvSpPr/>
          <p:nvPr/>
        </p:nvSpPr>
        <p:spPr>
          <a:xfrm>
            <a:off x="502920" y="2633472"/>
            <a:ext cx="11201400" cy="60350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TextBox 18"/>
          <p:cNvSpPr txBox="1"/>
          <p:nvPr/>
        </p:nvSpPr>
        <p:spPr>
          <a:xfrm>
            <a:off x="612648" y="2633472"/>
            <a:ext cx="2523744" cy="603504"/>
          </a:xfrm>
          <a:prstGeom prst="rect">
            <a:avLst/>
          </a:prstGeom>
          <a:noFill/>
        </p:spPr>
        <p:txBody>
          <a:bodyPr wrap="square" rtlCol="0" anchor="ctr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A3A47"/>
                </a:solidFill>
                <a:latin typeface="Calibri"/>
                <a:ea typeface="Calibri"/>
                <a:cs typeface="Calibri"/>
              </a:rPr>
              <a:t>Dycore progression suite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355848" y="2633472"/>
            <a:ext cx="3803904" cy="603504"/>
          </a:xfrm>
          <a:prstGeom prst="rect">
            <a:avLst/>
          </a:prstGeom>
          <a:noFill/>
        </p:spPr>
        <p:txBody>
          <a:bodyPr wrap="square" rtlCol="0" anchor="ctr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E36414"/>
                </a:solidFill>
                <a:latin typeface="Consolas"/>
                <a:ea typeface="Consolas"/>
                <a:cs typeface="Consolas"/>
              </a:rPr>
              <a:t>tests/validation/run_dycore_progression_suite.py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379208" y="2633472"/>
            <a:ext cx="4215384" cy="603504"/>
          </a:xfrm>
          <a:prstGeom prst="rect">
            <a:avLst/>
          </a:prstGeom>
          <a:noFill/>
        </p:spPr>
        <p:txBody>
          <a:bodyPr wrap="square" rtlCol="0" anchor="ctr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SW spectral → SW FV → hydro FV → spectral HS → NH FV → spectral NH</a:t>
            </a:r>
          </a:p>
        </p:txBody>
      </p:sp>
      <p:sp>
        <p:nvSpPr>
          <p:cNvPr id="21" name="Rect 21"/>
          <p:cNvSpPr/>
          <p:nvPr/>
        </p:nvSpPr>
        <p:spPr>
          <a:xfrm>
            <a:off x="502920" y="3236976"/>
            <a:ext cx="1120140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TextBox 22"/>
          <p:cNvSpPr txBox="1"/>
          <p:nvPr/>
        </p:nvSpPr>
        <p:spPr>
          <a:xfrm>
            <a:off x="612648" y="3236976"/>
            <a:ext cx="2523744" cy="603504"/>
          </a:xfrm>
          <a:prstGeom prst="rect">
            <a:avLst/>
          </a:prstGeom>
          <a:noFill/>
        </p:spPr>
        <p:txBody>
          <a:bodyPr wrap="square" rtlCol="0" anchor="ctr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A3A47"/>
                </a:solidFill>
                <a:latin typeface="Calibri"/>
                <a:ea typeface="Calibri"/>
                <a:cs typeface="Calibri"/>
              </a:rPr>
              <a:t>Ocean test matrix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355848" y="3236976"/>
            <a:ext cx="3803904" cy="603504"/>
          </a:xfrm>
          <a:prstGeom prst="rect">
            <a:avLst/>
          </a:prstGeom>
          <a:noFill/>
        </p:spPr>
        <p:txBody>
          <a:bodyPr wrap="square" rtlCol="0" anchor="ctr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E36414"/>
                </a:solidFill>
                <a:latin typeface="Consolas"/>
                <a:ea typeface="Consolas"/>
                <a:cs typeface="Consolas"/>
              </a:rPr>
              <a:t>scripts/run_ocean_test_matrix.py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379208" y="3236976"/>
            <a:ext cx="4215384" cy="603504"/>
          </a:xfrm>
          <a:prstGeom prst="rect">
            <a:avLst/>
          </a:prstGeom>
          <a:noFill/>
        </p:spPr>
        <p:txBody>
          <a:bodyPr wrap="square" rtlCol="0" anchor="ctr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57 / 57 PASS across lat-lon, tripolar, cubed-sphere, MPAS Voronoi</a:t>
            </a:r>
          </a:p>
        </p:txBody>
      </p:sp>
      <p:sp>
        <p:nvSpPr>
          <p:cNvPr id="25" name="Rect 25"/>
          <p:cNvSpPr/>
          <p:nvPr/>
        </p:nvSpPr>
        <p:spPr>
          <a:xfrm>
            <a:off x="502920" y="3840480"/>
            <a:ext cx="11201400" cy="60350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Box 26"/>
          <p:cNvSpPr txBox="1"/>
          <p:nvPr/>
        </p:nvSpPr>
        <p:spPr>
          <a:xfrm>
            <a:off x="612648" y="3840480"/>
            <a:ext cx="2523744" cy="603504"/>
          </a:xfrm>
          <a:prstGeom prst="rect">
            <a:avLst/>
          </a:prstGeom>
          <a:noFill/>
        </p:spPr>
        <p:txBody>
          <a:bodyPr wrap="square" rtlCol="0" anchor="ctr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A3A47"/>
                </a:solidFill>
                <a:latin typeface="Calibri"/>
                <a:ea typeface="Calibri"/>
                <a:cs typeface="Calibri"/>
              </a:rPr>
              <a:t>Sea ice test matrix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3355848" y="3840480"/>
            <a:ext cx="3803904" cy="603504"/>
          </a:xfrm>
          <a:prstGeom prst="rect">
            <a:avLst/>
          </a:prstGeom>
          <a:noFill/>
        </p:spPr>
        <p:txBody>
          <a:bodyPr wrap="square" rtlCol="0" anchor="ctr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E36414"/>
                </a:solidFill>
                <a:latin typeface="Consolas"/>
                <a:ea typeface="Consolas"/>
                <a:cs typeface="Consolas"/>
              </a:rPr>
              <a:t>scripts/run_sea_ice_test_matrix.py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379208" y="3840480"/>
            <a:ext cx="4215384" cy="603504"/>
          </a:xfrm>
          <a:prstGeom prst="rect">
            <a:avLst/>
          </a:prstGeom>
          <a:noFill/>
        </p:spPr>
        <p:txBody>
          <a:bodyPr wrap="square" rtlCol="0" anchor="ctr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15 benchmarks: thermo · dynamics · transport · ITD · integration</a:t>
            </a:r>
          </a:p>
        </p:txBody>
      </p:sp>
      <p:sp>
        <p:nvSpPr>
          <p:cNvPr id="29" name="Rect 29"/>
          <p:cNvSpPr/>
          <p:nvPr/>
        </p:nvSpPr>
        <p:spPr>
          <a:xfrm>
            <a:off x="502920" y="4443984"/>
            <a:ext cx="1120140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0" name="TextBox 30"/>
          <p:cNvSpPr txBox="1"/>
          <p:nvPr/>
        </p:nvSpPr>
        <p:spPr>
          <a:xfrm>
            <a:off x="612648" y="4443984"/>
            <a:ext cx="2523744" cy="603504"/>
          </a:xfrm>
          <a:prstGeom prst="rect">
            <a:avLst/>
          </a:prstGeom>
          <a:noFill/>
        </p:spPr>
        <p:txBody>
          <a:bodyPr wrap="square" rtlCol="0" anchor="ctr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A3A47"/>
                </a:solidFill>
                <a:latin typeface="Calibri"/>
                <a:ea typeface="Calibri"/>
                <a:cs typeface="Calibri"/>
              </a:rPr>
              <a:t>MPI differentiability tests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355848" y="4443984"/>
            <a:ext cx="3803904" cy="603504"/>
          </a:xfrm>
          <a:prstGeom prst="rect">
            <a:avLst/>
          </a:prstGeom>
          <a:noFill/>
        </p:spPr>
        <p:txBody>
          <a:bodyPr wrap="square" rtlCol="0" anchor="ctr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E36414"/>
                </a:solidFill>
                <a:latin typeface="Consolas"/>
                <a:ea typeface="Consolas"/>
                <a:cs typeface="Consolas"/>
              </a:rPr>
              <a:t>tests/distributed/test_mpi_differentiability.py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379208" y="4443984"/>
            <a:ext cx="4215384" cy="603504"/>
          </a:xfrm>
          <a:prstGeom prst="rect">
            <a:avLst/>
          </a:prstGeom>
          <a:noFill/>
        </p:spPr>
        <p:txBody>
          <a:bodyPr wrap="square" rtlCol="0" anchor="ctr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AD safety of _sendrecv_vjp + allreduce(SUM), checked via 2-rank runs</a:t>
            </a:r>
          </a:p>
        </p:txBody>
      </p:sp>
      <p:sp>
        <p:nvSpPr>
          <p:cNvPr id="33" name="Rect 33"/>
          <p:cNvSpPr/>
          <p:nvPr/>
        </p:nvSpPr>
        <p:spPr>
          <a:xfrm>
            <a:off x="502920" y="5047488"/>
            <a:ext cx="11201400" cy="60350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TextBox 34"/>
          <p:cNvSpPr txBox="1"/>
          <p:nvPr/>
        </p:nvSpPr>
        <p:spPr>
          <a:xfrm>
            <a:off x="612648" y="5047488"/>
            <a:ext cx="2523744" cy="603504"/>
          </a:xfrm>
          <a:prstGeom prst="rect">
            <a:avLst/>
          </a:prstGeom>
          <a:noFill/>
        </p:spPr>
        <p:txBody>
          <a:bodyPr wrap="square" rtlCol="0" anchor="ctr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A3A47"/>
                </a:solidFill>
                <a:latin typeface="Calibri"/>
                <a:ea typeface="Calibri"/>
                <a:cs typeface="Calibri"/>
              </a:rPr>
              <a:t>Ocean fidelity vs Veros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3355848" y="5047488"/>
            <a:ext cx="3803904" cy="603504"/>
          </a:xfrm>
          <a:prstGeom prst="rect">
            <a:avLst/>
          </a:prstGeom>
          <a:noFill/>
        </p:spPr>
        <p:txBody>
          <a:bodyPr wrap="square" rtlCol="0" anchor="ctr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E36414"/>
                </a:solidFill>
                <a:latin typeface="Consolas"/>
                <a:ea typeface="Consolas"/>
                <a:cs typeface="Consolas"/>
              </a:rPr>
              <a:t>ocean/fidelity/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379208" y="5047488"/>
            <a:ext cx="4215384" cy="603504"/>
          </a:xfrm>
          <a:prstGeom prst="rect">
            <a:avLst/>
          </a:prstGeom>
          <a:noFill/>
        </p:spPr>
        <p:txBody>
          <a:bodyPr wrap="square" rtlCol="0" anchor="ctr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DINO · ACC · lock exchange · overflow · Eady uniform — cross-model report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502920" y="5833872"/>
            <a:ext cx="11185855" cy="59436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Each scientific change has a narrowest-relevant matrix; nontrivial numerical changes always run the dycore progression suite end-to-end before merge.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ect 3"/>
          <p:cNvSpPr/>
          <p:nvPr/>
        </p:nvSpPr>
        <p:spPr>
          <a:xfrm>
            <a:off x="502920" y="274320"/>
            <a:ext cx="384048" cy="54864"/>
          </a:xfrm>
          <a:prstGeom prst="rect">
            <a:avLst/>
          </a:prstGeom>
          <a:solidFill>
            <a:srgbClr val="E36414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Rect 4"/>
          <p:cNvSpPr/>
          <p:nvPr/>
        </p:nvSpPr>
        <p:spPr>
          <a:xfrm>
            <a:off x="1005840" y="219456"/>
            <a:ext cx="1783080" cy="219456"/>
          </a:xfrm>
          <a:prstGeom prst="rect">
            <a:avLst/>
          </a:prstGeom>
          <a:solidFill>
            <a:srgbClr val="0F4C5C"/>
          </a:solidFill>
          <a:ln>
            <a:noFill/>
          </a:ln>
        </p:spPr>
        <p:txBody>
          <a:bodyPr wrap="square" rtlCol="0" anchor="ctr" lIns="18288" tIns="18288" rIns="18288" bIns="18288">
            <a:normAutofit/>
          </a:bodyPr>
          <a:lstStyle/>
          <a:p>
            <a:pPr algn="ct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VALIDATION · DYCORE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02920" y="502920"/>
            <a:ext cx="11185855" cy="77724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0A3A47"/>
                </a:solidFill>
                <a:latin typeface="Georgia"/>
                <a:ea typeface="Georgia"/>
                <a:cs typeface="Georgia"/>
              </a:rPr>
              <a:t>Williamson SW benchmarks — same case, three cores</a:t>
            </a:r>
          </a:p>
        </p:txBody>
      </p:sp>
      <p:sp>
        <p:nvSpPr>
          <p:cNvPr id="6" name="Rect 6"/>
          <p:cNvSpPr/>
          <p:nvPr/>
        </p:nvSpPr>
        <p:spPr>
          <a:xfrm>
            <a:off x="502920" y="1280160"/>
            <a:ext cx="11185855" cy="10973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502920" y="6492240"/>
            <a:ext cx="6400800" cy="27432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900" i="1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legoESM  ·  a differentiable Earth System Model in JAX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317175" y="6492240"/>
            <a:ext cx="1371600" cy="27432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 algn="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29 / 30</a:t>
            </a:r>
          </a:p>
        </p:txBody>
      </p:sp>
      <p:sp>
        <p:nvSpPr>
          <p:cNvPr id="9" name="Rect 9"/>
          <p:cNvSpPr/>
          <p:nvPr/>
        </p:nvSpPr>
        <p:spPr>
          <a:xfrm>
            <a:off x="502920" y="1645920"/>
            <a:ext cx="3606698" cy="36118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10" name="TextBox 10"/>
          <p:cNvSpPr txBox="1"/>
          <p:nvPr/>
        </p:nvSpPr>
        <p:spPr>
          <a:xfrm>
            <a:off x="502920" y="1691640"/>
            <a:ext cx="3606698" cy="32004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 algn="ct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A3A47"/>
                </a:solidFill>
                <a:latin typeface="Georgia"/>
                <a:ea typeface="Georgia"/>
                <a:cs typeface="Georgia"/>
              </a:rPr>
              <a:t>Spectral · lat-lon</a:t>
            </a:r>
          </a:p>
        </p:txBody>
      </p:sp>
      <p:sp>
        <p:nvSpPr>
          <p:cNvPr id="11" name="Rect 11"/>
          <p:cNvSpPr/>
          <p:nvPr/>
        </p:nvSpPr>
        <p:spPr>
          <a:xfrm>
            <a:off x="594360" y="2057400"/>
            <a:ext cx="3423818" cy="301752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12" name="TextBox 12"/>
          <p:cNvSpPr txBox="1"/>
          <p:nvPr/>
        </p:nvSpPr>
        <p:spPr>
          <a:xfrm>
            <a:off x="594360" y="3383280"/>
            <a:ext cx="3423818" cy="36576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 algn="ct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[figure missing: field_snapshots.png]</a:t>
            </a:r>
          </a:p>
        </p:txBody>
      </p:sp>
      <p:sp>
        <p:nvSpPr>
          <p:cNvPr id="13" name="Rect 13"/>
          <p:cNvSpPr/>
          <p:nvPr/>
        </p:nvSpPr>
        <p:spPr>
          <a:xfrm>
            <a:off x="4292498" y="1645920"/>
            <a:ext cx="3606698" cy="36118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14" name="TextBox 14"/>
          <p:cNvSpPr txBox="1"/>
          <p:nvPr/>
        </p:nvSpPr>
        <p:spPr>
          <a:xfrm>
            <a:off x="4292498" y="1691640"/>
            <a:ext cx="3606698" cy="32004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 algn="ct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A3A47"/>
                </a:solidFill>
                <a:latin typeface="Georgia"/>
                <a:ea typeface="Georgia"/>
                <a:cs typeface="Georgia"/>
              </a:rPr>
              <a:t>FV · lat-lon</a:t>
            </a:r>
          </a:p>
        </p:txBody>
      </p:sp>
      <p:sp>
        <p:nvSpPr>
          <p:cNvPr id="15" name="Rect 15"/>
          <p:cNvSpPr/>
          <p:nvPr/>
        </p:nvSpPr>
        <p:spPr>
          <a:xfrm>
            <a:off x="4383938" y="2057400"/>
            <a:ext cx="3423818" cy="301752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16" name="TextBox 16"/>
          <p:cNvSpPr txBox="1"/>
          <p:nvPr/>
        </p:nvSpPr>
        <p:spPr>
          <a:xfrm>
            <a:off x="4383938" y="3383280"/>
            <a:ext cx="3423818" cy="36576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 algn="ct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[figure missing: field_snapshots.png]</a:t>
            </a:r>
          </a:p>
        </p:txBody>
      </p:sp>
      <p:sp>
        <p:nvSpPr>
          <p:cNvPr id="17" name="Rect 17"/>
          <p:cNvSpPr/>
          <p:nvPr/>
        </p:nvSpPr>
        <p:spPr>
          <a:xfrm>
            <a:off x="8082077" y="1645920"/>
            <a:ext cx="3606698" cy="36118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18" name="TextBox 18"/>
          <p:cNvSpPr txBox="1"/>
          <p:nvPr/>
        </p:nvSpPr>
        <p:spPr>
          <a:xfrm>
            <a:off x="8082077" y="1691640"/>
            <a:ext cx="3606698" cy="32004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 algn="ct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A3A47"/>
                </a:solidFill>
                <a:latin typeface="Georgia"/>
                <a:ea typeface="Georgia"/>
                <a:cs typeface="Georgia"/>
              </a:rPr>
              <a:t>FV · cubed-sphere</a:t>
            </a:r>
          </a:p>
        </p:txBody>
      </p:sp>
      <p:sp>
        <p:nvSpPr>
          <p:cNvPr id="19" name="Rect 19"/>
          <p:cNvSpPr/>
          <p:nvPr/>
        </p:nvSpPr>
        <p:spPr>
          <a:xfrm>
            <a:off x="8173517" y="2057400"/>
            <a:ext cx="3423818" cy="301752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20" name="TextBox 20"/>
          <p:cNvSpPr txBox="1"/>
          <p:nvPr/>
        </p:nvSpPr>
        <p:spPr>
          <a:xfrm>
            <a:off x="8173517" y="3383280"/>
            <a:ext cx="3423818" cy="36576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 algn="ct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[figure missing: field_snapshots.png]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02920" y="5440680"/>
            <a:ext cx="11185855" cy="118872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20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E36414"/>
                </a:solidFill>
                <a:latin typeface="Calibri"/>
                <a:ea typeface="Calibri"/>
                <a:cs typeface="Calibri"/>
              </a:rPr>
              <a:t>▸  </a:t>
            </a:r>
            <a:r>
              <a:rPr lang="en-US" sz="120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Williamson 2 (steady-state geostrophic flow) — must reproduce the analytical solution to round-off; same case on three cores reveals grid imprinting and edge effects.</a:t>
            </a:r>
          </a:p>
          <a:p>
            <a:pPr>
              <a:lnSpc>
                <a:spcPct val="120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E36414"/>
                </a:solidFill>
                <a:latin typeface="Calibri"/>
                <a:ea typeface="Calibri"/>
                <a:cs typeface="Calibri"/>
              </a:rPr>
              <a:t>▸  </a:t>
            </a:r>
            <a:r>
              <a:rPr lang="en-US" sz="120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Williamson 5 (zonal flow over an isolated mountain) — sensitive to PPM limiter and divergence damping; visual inspection of v-wind is the canonical edge-artifact check.</a:t>
            </a:r>
          </a:p>
          <a:p>
            <a:pPr>
              <a:lnSpc>
                <a:spcPct val="120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E36414"/>
                </a:solidFill>
                <a:latin typeface="Calibri"/>
                <a:ea typeface="Calibri"/>
                <a:cs typeface="Calibri"/>
              </a:rPr>
              <a:t>▸  </a:t>
            </a:r>
            <a:r>
              <a:rPr lang="en-US" sz="120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Both cases also run on cubed-sphere native projection (field_snapshots_cube_native.png) to verify halo / corner handling.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ect 3"/>
          <p:cNvSpPr/>
          <p:nvPr/>
        </p:nvSpPr>
        <p:spPr>
          <a:xfrm>
            <a:off x="502920" y="274320"/>
            <a:ext cx="384048" cy="54864"/>
          </a:xfrm>
          <a:prstGeom prst="rect">
            <a:avLst/>
          </a:prstGeom>
          <a:solidFill>
            <a:srgbClr val="E36414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Rect 4"/>
          <p:cNvSpPr/>
          <p:nvPr/>
        </p:nvSpPr>
        <p:spPr>
          <a:xfrm>
            <a:off x="1005840" y="219456"/>
            <a:ext cx="1783080" cy="219456"/>
          </a:xfrm>
          <a:prstGeom prst="rect">
            <a:avLst/>
          </a:prstGeom>
          <a:solidFill>
            <a:srgbClr val="0F4C5C"/>
          </a:solidFill>
          <a:ln>
            <a:noFill/>
          </a:ln>
        </p:spPr>
        <p:txBody>
          <a:bodyPr wrap="square" rtlCol="0" anchor="ctr" lIns="18288" tIns="18288" rIns="18288" bIns="18288">
            <a:normAutofit/>
          </a:bodyPr>
          <a:lstStyle/>
          <a:p>
            <a:pPr algn="ct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ROADMAP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02920" y="502920"/>
            <a:ext cx="11185855" cy="77724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0A3A47"/>
                </a:solidFill>
                <a:latin typeface="Georgia"/>
                <a:ea typeface="Georgia"/>
                <a:cs typeface="Georgia"/>
              </a:rPr>
              <a:t>Where we are, where we're going</a:t>
            </a:r>
          </a:p>
        </p:txBody>
      </p:sp>
      <p:sp>
        <p:nvSpPr>
          <p:cNvPr id="6" name="Rect 6"/>
          <p:cNvSpPr/>
          <p:nvPr/>
        </p:nvSpPr>
        <p:spPr>
          <a:xfrm>
            <a:off x="502920" y="1280160"/>
            <a:ext cx="11185855" cy="10973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502920" y="6492240"/>
            <a:ext cx="6400800" cy="27432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900" i="1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legoESM  ·  a differentiable Earth System Model in JAX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317175" y="6492240"/>
            <a:ext cx="1371600" cy="27432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 algn="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30 / 30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02920" y="1554480"/>
            <a:ext cx="5486400" cy="36576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0A3A47"/>
                </a:solidFill>
                <a:latin typeface="Georgia"/>
                <a:ea typeface="Georgia"/>
                <a:cs typeface="Georgia"/>
              </a:rPr>
              <a:t>Shipped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02920" y="1965960"/>
            <a:ext cx="5486400" cy="411480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20000"/>
              </a:lnSpc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E36414"/>
                </a:solidFill>
                <a:latin typeface="Calibri"/>
                <a:ea typeface="Calibri"/>
                <a:cs typeface="Calibri"/>
              </a:rPr>
              <a:t>▸  </a:t>
            </a:r>
            <a:r>
              <a:rPr lang="en-US" sz="125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Coupled atm + ocean + ice + land + lake on 4 grid families</a:t>
            </a:r>
          </a:p>
          <a:p>
            <a:pPr>
              <a:lnSpc>
                <a:spcPct val="120000"/>
              </a:lnSpc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E36414"/>
                </a:solidFill>
                <a:latin typeface="Calibri"/>
                <a:ea typeface="Calibri"/>
                <a:cs typeface="Calibri"/>
              </a:rPr>
              <a:t>▸  </a:t>
            </a:r>
            <a:r>
              <a:rPr lang="en-US" sz="125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End-to-end jax.grad through MPI distributed runs</a:t>
            </a:r>
          </a:p>
          <a:p>
            <a:pPr>
              <a:lnSpc>
                <a:spcPct val="120000"/>
              </a:lnSpc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E36414"/>
                </a:solidFill>
                <a:latin typeface="Calibri"/>
                <a:ea typeface="Calibri"/>
                <a:cs typeface="Calibri"/>
              </a:rPr>
              <a:t>▸  </a:t>
            </a:r>
            <a:r>
              <a:rPr lang="en-US" sz="125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AMIP-CMIP6 deck (RRTMGP + Sundqvist + SBM + Louis)</a:t>
            </a:r>
          </a:p>
          <a:p>
            <a:pPr>
              <a:lnSpc>
                <a:spcPct val="120000"/>
              </a:lnSpc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E36414"/>
                </a:solidFill>
                <a:latin typeface="Calibri"/>
                <a:ea typeface="Calibri"/>
                <a:cs typeface="Calibri"/>
              </a:rPr>
              <a:t>▸  </a:t>
            </a:r>
            <a:r>
              <a:rPr lang="en-US" sz="125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57/57 ocean test matrix · 15/15 sea-ice tests · dycore progression suite</a:t>
            </a:r>
          </a:p>
          <a:p>
            <a:pPr>
              <a:lnSpc>
                <a:spcPct val="120000"/>
              </a:lnSpc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E36414"/>
                </a:solidFill>
                <a:latin typeface="Calibri"/>
                <a:ea typeface="Calibri"/>
                <a:cs typeface="Calibri"/>
              </a:rPr>
              <a:t>▸  </a:t>
            </a:r>
            <a:r>
              <a:rPr lang="en-US" sz="125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AIMIP-style trainable classical physics</a:t>
            </a:r>
          </a:p>
          <a:p>
            <a:pPr>
              <a:lnSpc>
                <a:spcPct val="120000"/>
              </a:lnSpc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E36414"/>
                </a:solidFill>
                <a:latin typeface="Calibri"/>
                <a:ea typeface="Calibri"/>
                <a:cs typeface="Calibri"/>
              </a:rPr>
              <a:t>▸  </a:t>
            </a:r>
            <a:r>
              <a:rPr lang="en-US" sz="125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SFNO + NeuralGCM-style hybrid cores · S2S slab campaigns</a:t>
            </a:r>
          </a:p>
          <a:p>
            <a:pPr>
              <a:lnSpc>
                <a:spcPct val="120000"/>
              </a:lnSpc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E36414"/>
                </a:solidFill>
                <a:latin typeface="Calibri"/>
                <a:ea typeface="Calibri"/>
                <a:cs typeface="Calibri"/>
              </a:rPr>
              <a:t>▸  </a:t>
            </a:r>
            <a:r>
              <a:rPr lang="en-US" sz="125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Veros ocean fidelity harness · CMOR-compliant output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263640" y="1554480"/>
            <a:ext cx="5425135" cy="36576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E36414"/>
                </a:solidFill>
                <a:latin typeface="Georgia"/>
                <a:ea typeface="Georgia"/>
                <a:cs typeface="Georgia"/>
              </a:rPr>
              <a:t>Next 12 months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263640" y="1965960"/>
            <a:ext cx="5425135" cy="4114800"/>
          </a:xfrm>
          <a:prstGeom prst="rect">
            <a:avLst/>
          </a:prstGeom>
          <a:noFill/>
        </p:spPr>
        <p:txBody>
          <a:bodyPr wrap="square" rtlCol="0" anchor="t" lIns="0" tIns="0" rIns="0" bIns="0">
            <a:normAutofit/>
          </a:bodyPr>
          <a:lstStyle/>
          <a:p>
            <a:pPr>
              <a:lnSpc>
                <a:spcPct val="120000"/>
              </a:lnSpc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E36414"/>
                </a:solidFill>
                <a:latin typeface="Calibri"/>
                <a:ea typeface="Calibri"/>
                <a:cs typeface="Calibri"/>
              </a:rPr>
              <a:t>▸  </a:t>
            </a:r>
            <a:r>
              <a:rPr lang="en-US" sz="125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Multi-year coupled AMIP+OMIP with prognostic sea ice</a:t>
            </a:r>
          </a:p>
          <a:p>
            <a:pPr>
              <a:lnSpc>
                <a:spcPct val="120000"/>
              </a:lnSpc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E36414"/>
                </a:solidFill>
                <a:latin typeface="Calibri"/>
                <a:ea typeface="Calibri"/>
                <a:cs typeface="Calibri"/>
              </a:rPr>
              <a:t>▸  </a:t>
            </a:r>
            <a:r>
              <a:rPr lang="en-US" sz="125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Full incremental 4D-Var with ensemble B (gen-be)</a:t>
            </a:r>
          </a:p>
          <a:p>
            <a:pPr>
              <a:lnSpc>
                <a:spcPct val="120000"/>
              </a:lnSpc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E36414"/>
                </a:solidFill>
                <a:latin typeface="Calibri"/>
                <a:ea typeface="Calibri"/>
                <a:cs typeface="Calibri"/>
              </a:rPr>
              <a:t>▸  </a:t>
            </a:r>
            <a:r>
              <a:rPr lang="en-US" sz="125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GPU strong-scaling beyond Levante baseline</a:t>
            </a:r>
          </a:p>
          <a:p>
            <a:pPr>
              <a:lnSpc>
                <a:spcPct val="120000"/>
              </a:lnSpc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E36414"/>
                </a:solidFill>
                <a:latin typeface="Calibri"/>
                <a:ea typeface="Calibri"/>
                <a:cs typeface="Calibri"/>
              </a:rPr>
              <a:t>▸  </a:t>
            </a:r>
            <a:r>
              <a:rPr lang="en-US" sz="125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End-to-end gradient-based tuning against ERA5 + ARGO</a:t>
            </a:r>
          </a:p>
          <a:p>
            <a:pPr>
              <a:lnSpc>
                <a:spcPct val="120000"/>
              </a:lnSpc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E36414"/>
                </a:solidFill>
                <a:latin typeface="Calibri"/>
                <a:ea typeface="Calibri"/>
                <a:cs typeface="Calibri"/>
              </a:rPr>
              <a:t>▸  </a:t>
            </a:r>
            <a:r>
              <a:rPr lang="en-US" sz="125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MPAS-Voronoi at production resolution (ico7)</a:t>
            </a:r>
          </a:p>
          <a:p>
            <a:pPr>
              <a:lnSpc>
                <a:spcPct val="120000"/>
              </a:lnSpc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E36414"/>
                </a:solidFill>
                <a:latin typeface="Calibri"/>
                <a:ea typeface="Calibri"/>
                <a:cs typeface="Calibri"/>
              </a:rPr>
              <a:t>▸  </a:t>
            </a:r>
            <a:r>
              <a:rPr lang="en-US" sz="125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Public release: docs, tutorials, reference notebooks</a:t>
            </a:r>
          </a:p>
          <a:p>
            <a:pPr>
              <a:lnSpc>
                <a:spcPct val="120000"/>
              </a:lnSpc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E36414"/>
                </a:solidFill>
                <a:latin typeface="Calibri"/>
                <a:ea typeface="Calibri"/>
                <a:cs typeface="Calibri"/>
              </a:rPr>
              <a:t>▸  </a:t>
            </a:r>
            <a:r>
              <a:rPr lang="en-US" sz="125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Community-contributed physics schemes via the lego interface</a:t>
            </a:r>
          </a:p>
        </p:txBody>
      </p:sp>
      <p:sp>
        <p:nvSpPr>
          <p:cNvPr id="13" name="Rect 13"/>
          <p:cNvSpPr/>
          <p:nvPr/>
        </p:nvSpPr>
        <p:spPr>
          <a:xfrm>
            <a:off x="502920" y="5989320"/>
            <a:ext cx="11185855" cy="502920"/>
          </a:xfrm>
          <a:prstGeom prst="rect">
            <a:avLst/>
          </a:prstGeom>
          <a:solidFill>
            <a:srgbClr val="0A3A47"/>
          </a:solidFill>
          <a:ln>
            <a:noFill/>
          </a:ln>
        </p:spPr>
        <p:txBody>
          <a:bodyPr wrap="square" rtlCol="0" anchor="ctr" lIns="0" tIns="0" rIns="0" bIns="0">
            <a:normAutofit/>
          </a:bodyPr>
          <a:lstStyle/>
          <a:p>
            <a:pPr algn="ctr">
              <a:lnSpc>
                <a:spcPct val="114999"/>
              </a:lnSpc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Thank you  ·  Questions?   github.com/legoESM   ·   pg2328@columbia.edu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goESM">
  <a:themeElements>
    <a:clrScheme name="legoESM">
      <a:dk1>
        <a:srgbClr val="1F2937"/>
      </a:dk1>
      <a:lt1>
        <a:srgbClr val="FFFFFF"/>
      </a:lt1>
      <a:dk2>
        <a:srgbClr val="0F4C5C"/>
      </a:dk2>
      <a:lt2>
        <a:srgbClr val="F1F5F9"/>
      </a:lt2>
      <a:accent1>
        <a:srgbClr val="0F4C5C"/>
      </a:accent1>
      <a:accent2>
        <a:srgbClr val="415A77"/>
      </a:accent2>
      <a:accent3>
        <a:srgbClr val="E36414"/>
      </a:accent3>
      <a:accent4>
        <a:srgbClr val="94A3B8"/>
      </a:accent4>
      <a:accent5>
        <a:srgbClr val="475569"/>
      </a:accent5>
      <a:accent6>
        <a:srgbClr val="CBD5E1"/>
      </a:accent6>
      <a:hlink>
        <a:srgbClr val="E36414"/>
      </a:hlink>
      <a:folHlink>
        <a:srgbClr val="415A77"/>
      </a:folHlink>
    </a:clrScheme>
    <a:fontScheme name="legoESM">
      <a:majorFont>
        <a:latin typeface="Georgia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legoESM build script</Application>
  <PresentationFormat>Widescreen</PresentationFormat>
  <Slides>30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legoESM Seminar</dc:title>
  <dc:creator>Pierre Gentine</dc:creator>
  <cp:lastModifiedBy>legoESM build script</cp:lastModifiedBy>
  <dcterms:created xsi:type="dcterms:W3CDTF">2026-05-23T00:00:00Z</dcterms:created>
  <dcterms:modified xsi:type="dcterms:W3CDTF">2026-05-23T00:00:00Z</dcterms:modified>
</cp:coreProperties>
</file>